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lG/Km82rYB0GeRhQNPnl1GHKn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Miles | Good morning. We're Miles and Eric from WezTerm Warriors. We reconstructed the conceptual architecture of WezTerm from its documentation and repository, focusing on the major parts of the system, why they interact, and what those choices mean for performance and change.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Miles | WezTerm is a cross-platform terminal emulator written in Rust. A terminal emulator sends input to a shell and interprets the shell's output; WezTerm adds GPU text rendering, panes and tabs managed by a built-in multiplexer, remote sessions, and Lua customization. We identified five drivers: rendering quality and speed, portability, extensibility, multiplexing, and low latency. These drivers explain why the system does not treat the terminal as one monolithic program: different responsibilities must be handled independently.</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h7c24e45f5df06284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h7c24e45f5df06284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Miles | WezTerm is a cross-platform terminal emulator written in Rust. A terminal emulator sends input to a shell and interprets the shell's output; WezTerm adds GPU text rendering, panes and tabs managed by a built-in multiplexer, remote sessions, and Lua customization. We identified five drivers: rendering quality and speed, portability, extensibility, multiplexing, and low latency. These drivers explain why the system does not treat the terminal as one monolithic program: different responsibilities must be handled independently.</a:t>
            </a:r>
            <a:endParaRPr/>
          </a:p>
        </p:txBody>
      </p:sp>
      <p:sp>
        <p:nvSpPr>
          <p:cNvPr id="49" name="Google Shape;49;h7c24e45f5df06284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Miles | Our starting point was the WezTerm documentation and the organization of its GitHub repository, not a reverse-engineered class diagram. We first mapped the five objectives to the parts that deliver them. Next we grouped related Rust crates into six conceptual subsystems and drew the dependency picture. Finally, we traced two representative behaviours—typing a key and opening a new tab—to test whether our boxes and arrows explained actual interactions. We used source and tool-generated diagrams to guide the analysis, but we kept this A1 view at subsystem level. Concrete code-level verification is a next step for A2.</a:t>
            </a:r>
            <a:endParaRPr/>
          </a:p>
        </p:txBody>
      </p:sp>
      <p:sp>
        <p:nvSpPr>
          <p:cNvPr id="87" name="Google Shape;8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Miles | Here is our central architecture diagram. The GUI handles input, windows, and key bindings, while the rendering pipeline turns terminal state into glyphs on the display. Between them and the running programs is the multiplexer, or mux, which owns windows, tabs, panes, and their domains. Below it, the terminal emulation core parses escape sequences and maintains the screen, while SSH and networking connects to remote sessions. Configuration is the cross-cutting Lua-based system that other subsystems query. Notice the core rationale: the GUI works through the mux rather than talking separately to each local or remote shell. This keeps session ownership in one place and allows a remote pane to look like a local one to the interface. The arrows indicate dependency, not necessarily constant data transfer.</a:t>
            </a:r>
            <a:endParaRPr/>
          </a:p>
        </p:txBody>
      </p:sp>
      <p:sp>
        <p:nvSpPr>
          <p:cNvPr id="125" name="Google Shape;12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Miles | These parts combine four styles. The input side is layered: the GUI uses the mux, then the terminal core or domain. The code is component-based, because dedicated Rust crates provide distinct functionality. Output is event-driven: the mux notifies the GUI of changes instead of having it constantly poll panes. And output is a pipeline from raw bytes, to parsed terminal state, to shaped glyphs, to a rendered frame. We chose these labels from the behaviour and crate boundaries, rather than assuming WezTerm follows a single pure style. The result is better separation of concerns, with some complexity at the interfaces.</a:t>
            </a:r>
            <a:endParaRPr/>
          </a:p>
        </p:txBody>
      </p:sp>
      <p:sp>
        <p:nvSpPr>
          <p:cNvPr id="180" name="Google Shape;18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Miles | Let's test this architecture with our first sequence diagram: pressing a key. On the input path, the operating system delivers a keyboard event to the GUI, which checks the Lua key bindings. A shortcut may be handled directly; otherwise the GUI asks the mux to send the key to the active pane. The terminal core encodes it for the shell. Then the shell's output returns asynchronously. A background reader and parser update screen state, the mux sends a notification, and the GUI requests the renderer to draw the new frame. The important insight is that pressing a key does not by itself draw a character. Input and output are separate paths, and the sequence follows the same subsystem boundaries shown on the previous slide.</a:t>
            </a:r>
            <a:endParaRPr/>
          </a:p>
        </p:txBody>
      </p:sp>
      <p:sp>
        <p:nvSpPr>
          <p:cNvPr id="214" name="Google Shape;2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Eric | Our second sequence shows how a new tab is created, rather than how an existing pane handles input. A user activates a spawn action, the GUI checks configuration, and the mux chooses a domain. That domain may be local or remote; if it is remote and disconnected, an attach step may be needed. The domain creates the shell connection and terminal state, then registers the pane and tab with the mux. The mux notifies the GUI, which prepares the window and renders an initial frame. The shell prompt arrives later through the output path from the first diagram. This is why the domain interface matters: the GUI does not need a separate path for every kind of shell.</a:t>
            </a:r>
            <a:endParaRPr/>
          </a:p>
        </p:txBody>
      </p:sp>
      <p:sp>
        <p:nvSpPr>
          <p:cNvPr id="270" name="Google Shape;2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Eric | Concurrency is what keeps those interactions responsive. The main GUI thread owns window events and drawing. Background threads read and parse output for each pane, while asynchronous tasks handle work such as spawning remote sessions. Rather than pushing a large screen buffer in each message, the mux publishes small notifications with pane identifiers; the renderer then reads current terminal state. The benefit is that slow or noisy shell output is less likely to block input. The cost is extra coordination: shared registries need synchronization, and blocking Lua event handlers can stall the GUI. This is a conceptual model from our A1 report, which still needs source-level validation in A2.</a:t>
            </a:r>
            <a:endParaRPr/>
          </a:p>
        </p:txBody>
      </p:sp>
      <p:sp>
        <p:nvSpPr>
          <p:cNvPr id="323" name="Google Shape;32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Eric | The same boundaries also support evolution. Lua configuration can reload without restarting the terminal, and custom Lua event handlers let users add behaviour without editing Rust. Platform abstractions hide differences among Windows, macOS, and Linux, while the mux domain interface provides a place for additional kinds of connections. That also divides developer responsibilities: graphics specialists can work on rendering and terminal specialists on parsing, provided they preserve shared contracts. However, modularity is not complete independence. An interface change may require coordinated updates and integration tests, especially where threads communicate.</a:t>
            </a:r>
            <a:endParaRPr/>
          </a:p>
        </p:txBody>
      </p:sp>
      <p:sp>
        <p:nvSpPr>
          <p:cNvPr id="357" name="Google Shape;3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Eric | We also compared plausible alternatives rather than assuming this design is free. WezTerm could rely on an external tool such as tmux instead of incorporating multiplexing, which would reduce its own code but limit native handling of panes. Separate OS-specific applications might integrate more closely with each platform, but maintaining multiple codebases would be more work. And a fixed settings file would be simpler than Lua, but much less expressive. The trade-offs are clear: an integrated feature-rich design creates a larger maintenance burden; GPU rendering depends on drivers, and a stable Lua API creates backward-compatibility obligations. These are limitations of our conclusions as well: A1 describes the intended conceptual boundaries; A2 must verify them against the implementation.</a:t>
            </a:r>
            <a:endParaRPr/>
          </a:p>
        </p:txBody>
      </p:sp>
      <p:sp>
        <p:nvSpPr>
          <p:cNvPr id="383" name="Google Shape;3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Eric | Three lessons stood out. First, we should have agreed on vocabulary and crate mapping earlier, because separately written sections repeated some material. Second, diagrams generated from code can be too detailed for a conceptual architecture; good communication requires abstraction. Third, we needed a page budget from the beginning. We used Claude Opus 5.5, Claude Sonnet 5.5, and GPT-6 as research and drafting partners, estimating AI assistance at about forty percent of the production process; the group still checked technical claims against primary sources and made the final decisions. Overall, WezTerm trades complexity for responsiveness, portability, and extensibility. Thank you—we're ready for questions.</a:t>
            </a:r>
            <a:endParaRPr/>
          </a:p>
        </p:txBody>
      </p:sp>
      <p:sp>
        <p:nvSpPr>
          <p:cNvPr id="413" name="Google Shape;4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youtu.be/cEuywLlwL_Q"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15" name="Shape 15"/>
        <p:cNvGrpSpPr/>
        <p:nvPr/>
      </p:nvGrpSpPr>
      <p:grpSpPr>
        <a:xfrm>
          <a:off x="0" y="0"/>
          <a:ext cx="0" cy="0"/>
          <a:chOff x="0" y="0"/>
          <a:chExt cx="0" cy="0"/>
        </a:xfrm>
      </p:grpSpPr>
      <p:sp>
        <p:nvSpPr>
          <p:cNvPr id="16" name="Google Shape;16;p1"/>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12648" y="1554480"/>
            <a:ext cx="128016" cy="2834640"/>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005840" y="1554480"/>
            <a:ext cx="9875520" cy="1554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4300"/>
              <a:buFont typeface="Arial"/>
              <a:buNone/>
            </a:pPr>
            <a:r>
              <a:rPr b="1" i="0" lang="en-US" sz="4300" u="none" cap="none" strike="noStrike">
                <a:solidFill>
                  <a:srgbClr val="1A2D42"/>
                </a:solidFill>
                <a:latin typeface="Arial"/>
                <a:ea typeface="Arial"/>
                <a:cs typeface="Arial"/>
                <a:sym typeface="Arial"/>
              </a:rPr>
              <a:t>Conceptual Architecture</a:t>
            </a:r>
            <a:endParaRPr b="0" i="0" sz="43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A2D42"/>
              </a:buClr>
              <a:buSzPts val="4300"/>
              <a:buFont typeface="Arial"/>
              <a:buNone/>
            </a:pPr>
            <a:r>
              <a:rPr b="1" i="0" lang="en-US" sz="4300" u="none" cap="none" strike="noStrike">
                <a:solidFill>
                  <a:srgbClr val="1A2D42"/>
                </a:solidFill>
                <a:latin typeface="Arial"/>
                <a:ea typeface="Arial"/>
                <a:cs typeface="Arial"/>
                <a:sym typeface="Arial"/>
              </a:rPr>
              <a:t>of WezTerm</a:t>
            </a:r>
            <a:endParaRPr b="0" i="0" sz="4300" u="none" cap="none" strike="noStrike">
              <a:solidFill>
                <a:schemeClr val="dk1"/>
              </a:solidFill>
              <a:latin typeface="Arial"/>
              <a:ea typeface="Arial"/>
              <a:cs typeface="Arial"/>
              <a:sym typeface="Arial"/>
            </a:endParaRPr>
          </a:p>
        </p:txBody>
      </p:sp>
      <p:sp>
        <p:nvSpPr>
          <p:cNvPr id="19" name="Google Shape;19;p1"/>
          <p:cNvSpPr/>
          <p:nvPr/>
        </p:nvSpPr>
        <p:spPr>
          <a:xfrm>
            <a:off x="1024128" y="3300984"/>
            <a:ext cx="978408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2100"/>
              <a:buFont typeface="Arial"/>
              <a:buNone/>
            </a:pPr>
            <a:r>
              <a:rPr b="0" i="0" lang="en-US" sz="2100" u="none" cap="none" strike="noStrike">
                <a:solidFill>
                  <a:srgbClr val="5E6D7C"/>
                </a:solidFill>
                <a:latin typeface="Arial"/>
                <a:ea typeface="Arial"/>
                <a:cs typeface="Arial"/>
                <a:sym typeface="Arial"/>
              </a:rPr>
              <a:t>Six subsystems  ·  two use cases  ·  one architectural story</a:t>
            </a:r>
            <a:endParaRPr b="0" i="0" sz="2100" u="none" cap="none" strike="noStrike">
              <a:solidFill>
                <a:schemeClr val="dk1"/>
              </a:solidFill>
              <a:latin typeface="Arial"/>
              <a:ea typeface="Arial"/>
              <a:cs typeface="Arial"/>
              <a:sym typeface="Arial"/>
            </a:endParaRPr>
          </a:p>
        </p:txBody>
      </p:sp>
      <p:sp>
        <p:nvSpPr>
          <p:cNvPr id="20" name="Google Shape;20;p1"/>
          <p:cNvSpPr/>
          <p:nvPr/>
        </p:nvSpPr>
        <p:spPr>
          <a:xfrm>
            <a:off x="1033272" y="4288536"/>
            <a:ext cx="2331720" cy="338328"/>
          </a:xfrm>
          <a:prstGeom prst="roundRect">
            <a:avLst>
              <a:gd fmla="val 48649"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1097280" y="4320540"/>
            <a:ext cx="2203704"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270"/>
              <a:buFont typeface="Arial"/>
              <a:buNone/>
            </a:pPr>
            <a:r>
              <a:rPr b="1" i="0" lang="en-US" sz="1270" u="none" cap="none" strike="noStrike">
                <a:solidFill>
                  <a:srgbClr val="267A94"/>
                </a:solidFill>
                <a:latin typeface="Arial"/>
                <a:ea typeface="Arial"/>
                <a:cs typeface="Arial"/>
                <a:sym typeface="Arial"/>
              </a:rPr>
              <a:t>WEZTERM WARRIORS</a:t>
            </a:r>
            <a:endParaRPr b="0" i="0" sz="1270" u="none" cap="none" strike="noStrike">
              <a:solidFill>
                <a:schemeClr val="dk1"/>
              </a:solidFill>
              <a:latin typeface="Arial"/>
              <a:ea typeface="Arial"/>
              <a:cs typeface="Arial"/>
              <a:sym typeface="Arial"/>
            </a:endParaRPr>
          </a:p>
        </p:txBody>
      </p:sp>
      <p:sp>
        <p:nvSpPr>
          <p:cNvPr id="22" name="Google Shape;22;p1"/>
          <p:cNvSpPr/>
          <p:nvPr/>
        </p:nvSpPr>
        <p:spPr>
          <a:xfrm>
            <a:off x="1042425" y="4892080"/>
            <a:ext cx="9601200" cy="14472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43646"/>
              </a:buClr>
              <a:buSzPts val="1700"/>
              <a:buFont typeface="Arial"/>
              <a:buNone/>
            </a:pPr>
            <a:r>
              <a:rPr b="0" i="0" lang="en-US" sz="1700" u="none" cap="none" strike="noStrike">
                <a:solidFill>
                  <a:srgbClr val="243646"/>
                </a:solidFill>
                <a:latin typeface="Arial"/>
                <a:ea typeface="Arial"/>
                <a:cs typeface="Arial"/>
                <a:sym typeface="Arial"/>
              </a:rPr>
              <a:t>Presented by Miles Chant and Eric Charest</a:t>
            </a:r>
            <a:endParaRPr b="0" i="0" sz="1700" u="none" cap="none" strike="noStrike">
              <a:solidFill>
                <a:srgbClr val="243646"/>
              </a:solidFill>
              <a:latin typeface="Arial"/>
              <a:ea typeface="Arial"/>
              <a:cs typeface="Arial"/>
              <a:sym typeface="Arial"/>
            </a:endParaRPr>
          </a:p>
          <a:p>
            <a:pPr indent="0" lvl="0" marL="0" marR="0" rtl="0" algn="l">
              <a:spcBef>
                <a:spcPts val="0"/>
              </a:spcBef>
              <a:spcAft>
                <a:spcPts val="0"/>
              </a:spcAft>
              <a:buClr>
                <a:srgbClr val="243646"/>
              </a:buClr>
              <a:buSzPts val="1700"/>
              <a:buFont typeface="Arial"/>
              <a:buNone/>
            </a:pPr>
            <a:r>
              <a:t/>
            </a:r>
            <a:endParaRPr sz="1700">
              <a:solidFill>
                <a:srgbClr val="243646"/>
              </a:solidFill>
            </a:endParaRPr>
          </a:p>
          <a:p>
            <a:pPr indent="0" lvl="0" marL="0" marR="0" rtl="0" algn="l">
              <a:spcBef>
                <a:spcPts val="0"/>
              </a:spcBef>
              <a:spcAft>
                <a:spcPts val="0"/>
              </a:spcAft>
              <a:buClr>
                <a:srgbClr val="243646"/>
              </a:buClr>
              <a:buSzPts val="1700"/>
              <a:buFont typeface="Arial"/>
              <a:buNone/>
            </a:pPr>
            <a:r>
              <a:rPr lang="en-US" sz="1700">
                <a:solidFill>
                  <a:srgbClr val="243646"/>
                </a:solidFill>
              </a:rPr>
              <a:t>Presentation link: </a:t>
            </a:r>
            <a:r>
              <a:rPr lang="en-US" sz="1700" u="sng">
                <a:solidFill>
                  <a:schemeClr val="hlink"/>
                </a:solidFill>
                <a:hlinkClick r:id="rId3"/>
              </a:rPr>
              <a:t>https://youtu.be/cEuywLlwL_Q</a:t>
            </a:r>
            <a:endParaRPr sz="1700">
              <a:solidFill>
                <a:srgbClr val="24364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27" name="Shape 27"/>
        <p:cNvGrpSpPr/>
        <p:nvPr/>
      </p:nvGrpSpPr>
      <p:grpSpPr>
        <a:xfrm>
          <a:off x="0" y="0"/>
          <a:ext cx="0" cy="0"/>
          <a:chOff x="0" y="0"/>
          <a:chExt cx="0" cy="0"/>
        </a:xfrm>
      </p:grpSpPr>
      <p:sp>
        <p:nvSpPr>
          <p:cNvPr id="28" name="Google Shape;28;p2"/>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94341" y="490939"/>
            <a:ext cx="10515600" cy="475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lang="en-US" sz="2800">
                <a:solidFill>
                  <a:srgbClr val="1A2D42"/>
                </a:solidFill>
              </a:rPr>
              <a:t>Our Group Roles</a:t>
            </a:r>
            <a:endParaRPr b="0" i="0" sz="2800" u="none" cap="none" strike="noStrike">
              <a:solidFill>
                <a:schemeClr val="dk1"/>
              </a:solidFill>
              <a:latin typeface="Arial"/>
              <a:ea typeface="Arial"/>
              <a:cs typeface="Arial"/>
              <a:sym typeface="Arial"/>
            </a:endParaRPr>
          </a:p>
        </p:txBody>
      </p:sp>
      <p:cxnSp>
        <p:nvCxnSpPr>
          <p:cNvPr id="30" name="Google Shape;30;p2"/>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31" name="Google Shape;31;p2"/>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32" name="Google Shape;32;p2"/>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§§1.1, 2.2</a:t>
            </a:r>
            <a:endParaRPr b="0" i="0" sz="900" u="none" cap="none" strike="noStrike">
              <a:solidFill>
                <a:schemeClr val="dk1"/>
              </a:solidFill>
              <a:latin typeface="Arial"/>
              <a:ea typeface="Arial"/>
              <a:cs typeface="Arial"/>
              <a:sym typeface="Arial"/>
            </a:endParaRPr>
          </a:p>
        </p:txBody>
      </p:sp>
      <p:sp>
        <p:nvSpPr>
          <p:cNvPr id="33" name="Google Shape;33;p2"/>
          <p:cNvSpPr/>
          <p:nvPr/>
        </p:nvSpPr>
        <p:spPr>
          <a:xfrm>
            <a:off x="746708" y="1700723"/>
            <a:ext cx="10698600" cy="640200"/>
          </a:xfrm>
          <a:prstGeom prst="roundRect">
            <a:avLst>
              <a:gd fmla="val 14286" name="adj"/>
            </a:avLst>
          </a:prstGeom>
          <a:solidFill>
            <a:srgbClr val="F2F6F8"/>
          </a:solidFill>
          <a:ln cap="flat" cmpd="sng" w="9525">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505660" y="1810451"/>
            <a:ext cx="3657600" cy="420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lang="en-US" sz="1900">
                <a:solidFill>
                  <a:srgbClr val="1A2D42"/>
                </a:solidFill>
              </a:rPr>
              <a:t>Benjamin Van Mil</a:t>
            </a:r>
            <a:endParaRPr b="0" i="0" sz="1900" u="none" cap="none" strike="noStrike">
              <a:solidFill>
                <a:schemeClr val="dk1"/>
              </a:solidFill>
              <a:latin typeface="Arial"/>
              <a:ea typeface="Arial"/>
              <a:cs typeface="Arial"/>
              <a:sym typeface="Arial"/>
            </a:endParaRPr>
          </a:p>
        </p:txBody>
      </p:sp>
      <p:sp>
        <p:nvSpPr>
          <p:cNvPr id="35" name="Google Shape;35;p2"/>
          <p:cNvSpPr/>
          <p:nvPr/>
        </p:nvSpPr>
        <p:spPr>
          <a:xfrm>
            <a:off x="5208980" y="1847027"/>
            <a:ext cx="54864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640"/>
              <a:buFont typeface="Arial"/>
              <a:buNone/>
            </a:pPr>
            <a:r>
              <a:rPr lang="en-US" sz="1640">
                <a:solidFill>
                  <a:srgbClr val="5E6D7C"/>
                </a:solidFill>
              </a:rPr>
              <a:t>Group Leader</a:t>
            </a:r>
            <a:endParaRPr b="0" i="0" sz="1640" u="none" cap="none" strike="noStrike">
              <a:solidFill>
                <a:schemeClr val="dk1"/>
              </a:solidFill>
              <a:latin typeface="Arial"/>
              <a:ea typeface="Arial"/>
              <a:cs typeface="Arial"/>
              <a:sym typeface="Arial"/>
            </a:endParaRPr>
          </a:p>
        </p:txBody>
      </p:sp>
      <p:sp>
        <p:nvSpPr>
          <p:cNvPr id="36" name="Google Shape;36;p2"/>
          <p:cNvSpPr/>
          <p:nvPr/>
        </p:nvSpPr>
        <p:spPr>
          <a:xfrm>
            <a:off x="746708" y="2514539"/>
            <a:ext cx="10698600" cy="640200"/>
          </a:xfrm>
          <a:prstGeom prst="roundRect">
            <a:avLst>
              <a:gd fmla="val 14286" name="adj"/>
            </a:avLst>
          </a:prstGeom>
          <a:solidFill>
            <a:srgbClr val="FFFFFF"/>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1505660" y="2624267"/>
            <a:ext cx="3657600" cy="420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lang="en-US" sz="1900">
                <a:solidFill>
                  <a:srgbClr val="1A2D42"/>
                </a:solidFill>
              </a:rPr>
              <a:t>Eric Charest</a:t>
            </a:r>
            <a:endParaRPr b="0" i="0" sz="1900" u="none" cap="none" strike="noStrike">
              <a:solidFill>
                <a:schemeClr val="dk1"/>
              </a:solidFill>
              <a:latin typeface="Arial"/>
              <a:ea typeface="Arial"/>
              <a:cs typeface="Arial"/>
              <a:sym typeface="Arial"/>
            </a:endParaRPr>
          </a:p>
        </p:txBody>
      </p:sp>
      <p:sp>
        <p:nvSpPr>
          <p:cNvPr id="38" name="Google Shape;38;p2"/>
          <p:cNvSpPr/>
          <p:nvPr/>
        </p:nvSpPr>
        <p:spPr>
          <a:xfrm>
            <a:off x="5208980" y="2660843"/>
            <a:ext cx="54864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640"/>
              <a:buFont typeface="Arial"/>
              <a:buNone/>
            </a:pPr>
            <a:r>
              <a:rPr lang="en-US" sz="1640">
                <a:solidFill>
                  <a:srgbClr val="5E6D7C"/>
                </a:solidFill>
              </a:rPr>
              <a:t>Presenter</a:t>
            </a:r>
            <a:endParaRPr b="0" i="0" sz="1640" u="none" cap="none" strike="noStrike">
              <a:solidFill>
                <a:schemeClr val="dk1"/>
              </a:solidFill>
              <a:latin typeface="Arial"/>
              <a:ea typeface="Arial"/>
              <a:cs typeface="Arial"/>
              <a:sym typeface="Arial"/>
            </a:endParaRPr>
          </a:p>
        </p:txBody>
      </p:sp>
      <p:sp>
        <p:nvSpPr>
          <p:cNvPr id="39" name="Google Shape;39;p2"/>
          <p:cNvSpPr/>
          <p:nvPr/>
        </p:nvSpPr>
        <p:spPr>
          <a:xfrm>
            <a:off x="746708" y="3328355"/>
            <a:ext cx="10698600" cy="640200"/>
          </a:xfrm>
          <a:prstGeom prst="roundRect">
            <a:avLst>
              <a:gd fmla="val 14286" name="adj"/>
            </a:avLst>
          </a:prstGeom>
          <a:solidFill>
            <a:srgbClr val="F2F6F8"/>
          </a:solidFill>
          <a:ln cap="flat" cmpd="sng" w="9525">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505660" y="3438083"/>
            <a:ext cx="3657600" cy="420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lang="en-US" sz="1900">
                <a:solidFill>
                  <a:srgbClr val="1A2D42"/>
                </a:solidFill>
              </a:rPr>
              <a:t>Miles Chant</a:t>
            </a:r>
            <a:endParaRPr b="0" i="0" sz="1900" u="none" cap="none" strike="noStrike">
              <a:solidFill>
                <a:schemeClr val="dk1"/>
              </a:solidFill>
              <a:latin typeface="Arial"/>
              <a:ea typeface="Arial"/>
              <a:cs typeface="Arial"/>
              <a:sym typeface="Arial"/>
            </a:endParaRPr>
          </a:p>
        </p:txBody>
      </p:sp>
      <p:sp>
        <p:nvSpPr>
          <p:cNvPr id="41" name="Google Shape;41;p2"/>
          <p:cNvSpPr/>
          <p:nvPr/>
        </p:nvSpPr>
        <p:spPr>
          <a:xfrm>
            <a:off x="5208980" y="3474659"/>
            <a:ext cx="54864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640"/>
              <a:buFont typeface="Arial"/>
              <a:buNone/>
            </a:pPr>
            <a:r>
              <a:rPr lang="en-US" sz="1640">
                <a:solidFill>
                  <a:srgbClr val="5E6D7C"/>
                </a:solidFill>
              </a:rPr>
              <a:t>Presenter</a:t>
            </a:r>
            <a:endParaRPr b="0" i="0" sz="1640" u="none" cap="none" strike="noStrike">
              <a:solidFill>
                <a:schemeClr val="dk1"/>
              </a:solidFill>
              <a:latin typeface="Arial"/>
              <a:ea typeface="Arial"/>
              <a:cs typeface="Arial"/>
              <a:sym typeface="Arial"/>
            </a:endParaRPr>
          </a:p>
        </p:txBody>
      </p:sp>
      <p:sp>
        <p:nvSpPr>
          <p:cNvPr id="42" name="Google Shape;42;p2"/>
          <p:cNvSpPr/>
          <p:nvPr/>
        </p:nvSpPr>
        <p:spPr>
          <a:xfrm>
            <a:off x="746708" y="4142171"/>
            <a:ext cx="10698600" cy="640200"/>
          </a:xfrm>
          <a:prstGeom prst="roundRect">
            <a:avLst>
              <a:gd fmla="val 14286" name="adj"/>
            </a:avLst>
          </a:prstGeom>
          <a:solidFill>
            <a:srgbClr val="FFFFFF"/>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505660" y="4251899"/>
            <a:ext cx="3657600" cy="420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lang="en-US" sz="1900">
                <a:solidFill>
                  <a:srgbClr val="1A2D42"/>
                </a:solidFill>
              </a:rPr>
              <a:t>Abraham Li Wu</a:t>
            </a:r>
            <a:endParaRPr b="0" i="0" sz="1900" u="none" cap="none" strike="noStrike">
              <a:solidFill>
                <a:schemeClr val="dk1"/>
              </a:solidFill>
              <a:latin typeface="Arial"/>
              <a:ea typeface="Arial"/>
              <a:cs typeface="Arial"/>
              <a:sym typeface="Arial"/>
            </a:endParaRPr>
          </a:p>
        </p:txBody>
      </p:sp>
      <p:sp>
        <p:nvSpPr>
          <p:cNvPr id="44" name="Google Shape;44;p2"/>
          <p:cNvSpPr/>
          <p:nvPr/>
        </p:nvSpPr>
        <p:spPr>
          <a:xfrm>
            <a:off x="746708" y="4955987"/>
            <a:ext cx="10698600" cy="640200"/>
          </a:xfrm>
          <a:prstGeom prst="roundRect">
            <a:avLst>
              <a:gd fmla="val 14286" name="adj"/>
            </a:avLst>
          </a:prstGeom>
          <a:solidFill>
            <a:srgbClr val="F2F6F8"/>
          </a:solidFill>
          <a:ln cap="flat" cmpd="sng" w="9525">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505660" y="5065715"/>
            <a:ext cx="3657600" cy="420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lang="en-US" sz="1900">
                <a:solidFill>
                  <a:srgbClr val="1A2D42"/>
                </a:solidFill>
              </a:rPr>
              <a:t>Owen Macey</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50" name="Shape 50"/>
        <p:cNvGrpSpPr/>
        <p:nvPr/>
      </p:nvGrpSpPr>
      <p:grpSpPr>
        <a:xfrm>
          <a:off x="0" y="0"/>
          <a:ext cx="0" cy="0"/>
          <a:chOff x="0" y="0"/>
          <a:chExt cx="0" cy="0"/>
        </a:xfrm>
      </p:grpSpPr>
      <p:sp>
        <p:nvSpPr>
          <p:cNvPr id="51" name="Google Shape;51;h7c24e45f5df06284_0_5"/>
          <p:cNvSpPr/>
          <p:nvPr/>
        </p:nvSpPr>
        <p:spPr>
          <a:xfrm>
            <a:off x="0" y="0"/>
            <a:ext cx="12191700" cy="100500"/>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h7c24e45f5df06284_0_5"/>
          <p:cNvSpPr/>
          <p:nvPr/>
        </p:nvSpPr>
        <p:spPr>
          <a:xfrm>
            <a:off x="585216" y="283464"/>
            <a:ext cx="10515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What WezTerm needs to do</a:t>
            </a:r>
            <a:endParaRPr b="0" i="0" sz="2800" u="none" cap="none" strike="noStrike">
              <a:solidFill>
                <a:schemeClr val="dk1"/>
              </a:solidFill>
              <a:latin typeface="Arial"/>
              <a:ea typeface="Arial"/>
              <a:cs typeface="Arial"/>
              <a:sym typeface="Arial"/>
            </a:endParaRPr>
          </a:p>
        </p:txBody>
      </p:sp>
      <p:sp>
        <p:nvSpPr>
          <p:cNvPr id="53" name="Google Shape;53;h7c24e45f5df06284_0_5"/>
          <p:cNvSpPr/>
          <p:nvPr/>
        </p:nvSpPr>
        <p:spPr>
          <a:xfrm>
            <a:off x="612648" y="777240"/>
            <a:ext cx="969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Purpose and quality drivers</a:t>
            </a:r>
            <a:endParaRPr b="0" i="0" sz="1300" u="none" cap="none" strike="noStrike">
              <a:solidFill>
                <a:schemeClr val="dk1"/>
              </a:solidFill>
              <a:latin typeface="Arial"/>
              <a:ea typeface="Arial"/>
              <a:cs typeface="Arial"/>
              <a:sym typeface="Arial"/>
            </a:endParaRPr>
          </a:p>
        </p:txBody>
      </p:sp>
      <p:sp>
        <p:nvSpPr>
          <p:cNvPr id="54" name="Google Shape;54;h7c24e45f5df06284_0_5"/>
          <p:cNvSpPr/>
          <p:nvPr/>
        </p:nvSpPr>
        <p:spPr>
          <a:xfrm>
            <a:off x="10332720" y="813816"/>
            <a:ext cx="1252800" cy="210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MILES  ·  2/11</a:t>
            </a:r>
            <a:endParaRPr b="0" i="0" sz="1050" u="none" cap="none" strike="noStrike">
              <a:solidFill>
                <a:schemeClr val="dk1"/>
              </a:solidFill>
              <a:latin typeface="Arial"/>
              <a:ea typeface="Arial"/>
              <a:cs typeface="Arial"/>
              <a:sym typeface="Arial"/>
            </a:endParaRPr>
          </a:p>
        </p:txBody>
      </p:sp>
      <p:cxnSp>
        <p:nvCxnSpPr>
          <p:cNvPr id="55" name="Google Shape;55;h7c24e45f5df06284_0_5"/>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56" name="Google Shape;56;h7c24e45f5df06284_0_5"/>
          <p:cNvSpPr/>
          <p:nvPr/>
        </p:nvSpPr>
        <p:spPr>
          <a:xfrm>
            <a:off x="603504" y="6565392"/>
            <a:ext cx="3657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57" name="Google Shape;57;h7c24e45f5df06284_0_5"/>
          <p:cNvSpPr/>
          <p:nvPr/>
        </p:nvSpPr>
        <p:spPr>
          <a:xfrm>
            <a:off x="7863840" y="6556248"/>
            <a:ext cx="3703200" cy="173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§§1.1, 2.2</a:t>
            </a:r>
            <a:endParaRPr b="0" i="0" sz="900" u="none" cap="none" strike="noStrike">
              <a:solidFill>
                <a:schemeClr val="dk1"/>
              </a:solidFill>
              <a:latin typeface="Arial"/>
              <a:ea typeface="Arial"/>
              <a:cs typeface="Arial"/>
              <a:sym typeface="Arial"/>
            </a:endParaRPr>
          </a:p>
        </p:txBody>
      </p:sp>
      <p:sp>
        <p:nvSpPr>
          <p:cNvPr id="58" name="Google Shape;58;h7c24e45f5df06284_0_5"/>
          <p:cNvSpPr/>
          <p:nvPr/>
        </p:nvSpPr>
        <p:spPr>
          <a:xfrm>
            <a:off x="640080" y="1179576"/>
            <a:ext cx="108813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1929"/>
              <a:buFont typeface="Arial"/>
              <a:buNone/>
            </a:pPr>
            <a:r>
              <a:rPr b="0" i="0" lang="en-US" sz="1930" u="none" cap="none" strike="noStrike">
                <a:solidFill>
                  <a:srgbClr val="5E6D7C"/>
                </a:solidFill>
                <a:latin typeface="Arial"/>
                <a:ea typeface="Arial"/>
                <a:cs typeface="Arial"/>
                <a:sym typeface="Arial"/>
              </a:rPr>
              <a:t>A terminal emulator with additional responsibilities</a:t>
            </a:r>
            <a:endParaRPr b="0" i="0" sz="1930" u="none" cap="none" strike="noStrike">
              <a:solidFill>
                <a:schemeClr val="dk1"/>
              </a:solidFill>
              <a:latin typeface="Arial"/>
              <a:ea typeface="Arial"/>
              <a:cs typeface="Arial"/>
              <a:sym typeface="Arial"/>
            </a:endParaRPr>
          </a:p>
        </p:txBody>
      </p:sp>
      <p:sp>
        <p:nvSpPr>
          <p:cNvPr id="59" name="Google Shape;59;h7c24e45f5df06284_0_5"/>
          <p:cNvSpPr/>
          <p:nvPr/>
        </p:nvSpPr>
        <p:spPr>
          <a:xfrm>
            <a:off x="749808" y="1755648"/>
            <a:ext cx="10698600" cy="640200"/>
          </a:xfrm>
          <a:prstGeom prst="roundRect">
            <a:avLst>
              <a:gd fmla="val 14286" name="adj"/>
            </a:avLst>
          </a:prstGeom>
          <a:solidFill>
            <a:srgbClr val="F2F6F8"/>
          </a:solidFill>
          <a:ln cap="flat" cmpd="sng" w="9525">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h7c24e45f5df06284_0_5"/>
          <p:cNvSpPr/>
          <p:nvPr/>
        </p:nvSpPr>
        <p:spPr>
          <a:xfrm>
            <a:off x="923544" y="1892808"/>
            <a:ext cx="356700" cy="365700"/>
          </a:xfrm>
          <a:prstGeom prst="roundRect">
            <a:avLst>
              <a:gd fmla="val 15385"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h7c24e45f5df06284_0_5"/>
          <p:cNvSpPr/>
          <p:nvPr/>
        </p:nvSpPr>
        <p:spPr>
          <a:xfrm>
            <a:off x="932688" y="1920240"/>
            <a:ext cx="338400" cy="28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7A94"/>
              </a:buClr>
              <a:buSzPts val="1600"/>
              <a:buFont typeface="Arial"/>
              <a:buNone/>
            </a:pPr>
            <a:r>
              <a:rPr b="1" i="0" lang="en-US" sz="1600" u="none" cap="none" strike="noStrike">
                <a:solidFill>
                  <a:srgbClr val="267A94"/>
                </a:solidFill>
                <a:latin typeface="Arial"/>
                <a:ea typeface="Arial"/>
                <a:cs typeface="Arial"/>
                <a:sym typeface="Arial"/>
              </a:rPr>
              <a:t>1</a:t>
            </a:r>
            <a:endParaRPr b="0" i="0" sz="1600" u="none" cap="none" strike="noStrike">
              <a:solidFill>
                <a:schemeClr val="dk1"/>
              </a:solidFill>
              <a:latin typeface="Arial"/>
              <a:ea typeface="Arial"/>
              <a:cs typeface="Arial"/>
              <a:sym typeface="Arial"/>
            </a:endParaRPr>
          </a:p>
        </p:txBody>
      </p:sp>
      <p:sp>
        <p:nvSpPr>
          <p:cNvPr id="62" name="Google Shape;62;h7c24e45f5df06284_0_5"/>
          <p:cNvSpPr/>
          <p:nvPr/>
        </p:nvSpPr>
        <p:spPr>
          <a:xfrm>
            <a:off x="1508760" y="1865376"/>
            <a:ext cx="3657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GPU-accelerated rendering</a:t>
            </a:r>
            <a:endParaRPr b="0" i="0" sz="1900" u="none" cap="none" strike="noStrike">
              <a:solidFill>
                <a:schemeClr val="dk1"/>
              </a:solidFill>
              <a:latin typeface="Arial"/>
              <a:ea typeface="Arial"/>
              <a:cs typeface="Arial"/>
              <a:sym typeface="Arial"/>
            </a:endParaRPr>
          </a:p>
        </p:txBody>
      </p:sp>
      <p:sp>
        <p:nvSpPr>
          <p:cNvPr id="63" name="Google Shape;63;h7c24e45f5df06284_0_5"/>
          <p:cNvSpPr/>
          <p:nvPr/>
        </p:nvSpPr>
        <p:spPr>
          <a:xfrm>
            <a:off x="5212080" y="1901952"/>
            <a:ext cx="5486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1640"/>
              <a:buFont typeface="Arial"/>
              <a:buNone/>
            </a:pPr>
            <a:r>
              <a:rPr b="0" i="0" lang="en-US" sz="1640" u="none" cap="none" strike="noStrike">
                <a:solidFill>
                  <a:srgbClr val="5E6D7C"/>
                </a:solidFill>
                <a:latin typeface="Arial"/>
                <a:ea typeface="Arial"/>
                <a:cs typeface="Arial"/>
                <a:sym typeface="Arial"/>
              </a:rPr>
              <a:t>Fast, high-quality text</a:t>
            </a:r>
            <a:endParaRPr b="0" i="0" sz="1640" u="none" cap="none" strike="noStrike">
              <a:solidFill>
                <a:schemeClr val="dk1"/>
              </a:solidFill>
              <a:latin typeface="Arial"/>
              <a:ea typeface="Arial"/>
              <a:cs typeface="Arial"/>
              <a:sym typeface="Arial"/>
            </a:endParaRPr>
          </a:p>
        </p:txBody>
      </p:sp>
      <p:sp>
        <p:nvSpPr>
          <p:cNvPr id="64" name="Google Shape;64;h7c24e45f5df06284_0_5"/>
          <p:cNvSpPr/>
          <p:nvPr/>
        </p:nvSpPr>
        <p:spPr>
          <a:xfrm>
            <a:off x="749808" y="2569464"/>
            <a:ext cx="10698600" cy="640200"/>
          </a:xfrm>
          <a:prstGeom prst="roundRect">
            <a:avLst>
              <a:gd fmla="val 14286" name="adj"/>
            </a:avLst>
          </a:prstGeom>
          <a:solidFill>
            <a:srgbClr val="FFFFFF"/>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h7c24e45f5df06284_0_5"/>
          <p:cNvSpPr/>
          <p:nvPr/>
        </p:nvSpPr>
        <p:spPr>
          <a:xfrm>
            <a:off x="923544" y="2706624"/>
            <a:ext cx="356700" cy="365700"/>
          </a:xfrm>
          <a:prstGeom prst="roundRect">
            <a:avLst>
              <a:gd fmla="val 15385"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h7c24e45f5df06284_0_5"/>
          <p:cNvSpPr/>
          <p:nvPr/>
        </p:nvSpPr>
        <p:spPr>
          <a:xfrm>
            <a:off x="932688" y="2734056"/>
            <a:ext cx="338400" cy="28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7A94"/>
              </a:buClr>
              <a:buSzPts val="1600"/>
              <a:buFont typeface="Arial"/>
              <a:buNone/>
            </a:pPr>
            <a:r>
              <a:rPr b="1" i="0" lang="en-US" sz="1600" u="none" cap="none" strike="noStrike">
                <a:solidFill>
                  <a:srgbClr val="267A94"/>
                </a:solidFill>
                <a:latin typeface="Arial"/>
                <a:ea typeface="Arial"/>
                <a:cs typeface="Arial"/>
                <a:sym typeface="Arial"/>
              </a:rPr>
              <a:t>2</a:t>
            </a:r>
            <a:endParaRPr b="0" i="0" sz="1600" u="none" cap="none" strike="noStrike">
              <a:solidFill>
                <a:schemeClr val="dk1"/>
              </a:solidFill>
              <a:latin typeface="Arial"/>
              <a:ea typeface="Arial"/>
              <a:cs typeface="Arial"/>
              <a:sym typeface="Arial"/>
            </a:endParaRPr>
          </a:p>
        </p:txBody>
      </p:sp>
      <p:sp>
        <p:nvSpPr>
          <p:cNvPr id="67" name="Google Shape;67;h7c24e45f5df06284_0_5"/>
          <p:cNvSpPr/>
          <p:nvPr/>
        </p:nvSpPr>
        <p:spPr>
          <a:xfrm>
            <a:off x="1508760" y="2679192"/>
            <a:ext cx="3657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Cross-platform support</a:t>
            </a:r>
            <a:endParaRPr b="0" i="0" sz="1900" u="none" cap="none" strike="noStrike">
              <a:solidFill>
                <a:schemeClr val="dk1"/>
              </a:solidFill>
              <a:latin typeface="Arial"/>
              <a:ea typeface="Arial"/>
              <a:cs typeface="Arial"/>
              <a:sym typeface="Arial"/>
            </a:endParaRPr>
          </a:p>
        </p:txBody>
      </p:sp>
      <p:sp>
        <p:nvSpPr>
          <p:cNvPr id="68" name="Google Shape;68;h7c24e45f5df06284_0_5"/>
          <p:cNvSpPr/>
          <p:nvPr/>
        </p:nvSpPr>
        <p:spPr>
          <a:xfrm>
            <a:off x="5212080" y="2715768"/>
            <a:ext cx="5486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1640"/>
              <a:buFont typeface="Arial"/>
              <a:buNone/>
            </a:pPr>
            <a:r>
              <a:rPr b="0" i="0" lang="en-US" sz="1640" u="none" cap="none" strike="noStrike">
                <a:solidFill>
                  <a:srgbClr val="5E6D7C"/>
                </a:solidFill>
                <a:latin typeface="Arial"/>
                <a:ea typeface="Arial"/>
                <a:cs typeface="Arial"/>
                <a:sym typeface="Arial"/>
              </a:rPr>
              <a:t>One codebase, many operating systems</a:t>
            </a:r>
            <a:endParaRPr b="0" i="0" sz="1640" u="none" cap="none" strike="noStrike">
              <a:solidFill>
                <a:schemeClr val="dk1"/>
              </a:solidFill>
              <a:latin typeface="Arial"/>
              <a:ea typeface="Arial"/>
              <a:cs typeface="Arial"/>
              <a:sym typeface="Arial"/>
            </a:endParaRPr>
          </a:p>
        </p:txBody>
      </p:sp>
      <p:sp>
        <p:nvSpPr>
          <p:cNvPr id="69" name="Google Shape;69;h7c24e45f5df06284_0_5"/>
          <p:cNvSpPr/>
          <p:nvPr/>
        </p:nvSpPr>
        <p:spPr>
          <a:xfrm>
            <a:off x="749808" y="3383280"/>
            <a:ext cx="10698600" cy="640200"/>
          </a:xfrm>
          <a:prstGeom prst="roundRect">
            <a:avLst>
              <a:gd fmla="val 14286" name="adj"/>
            </a:avLst>
          </a:prstGeom>
          <a:solidFill>
            <a:srgbClr val="F2F6F8"/>
          </a:solidFill>
          <a:ln cap="flat" cmpd="sng" w="9525">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h7c24e45f5df06284_0_5"/>
          <p:cNvSpPr/>
          <p:nvPr/>
        </p:nvSpPr>
        <p:spPr>
          <a:xfrm>
            <a:off x="923544" y="3520440"/>
            <a:ext cx="356700" cy="365700"/>
          </a:xfrm>
          <a:prstGeom prst="roundRect">
            <a:avLst>
              <a:gd fmla="val 15385"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h7c24e45f5df06284_0_5"/>
          <p:cNvSpPr/>
          <p:nvPr/>
        </p:nvSpPr>
        <p:spPr>
          <a:xfrm>
            <a:off x="932688" y="3547872"/>
            <a:ext cx="338400" cy="28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7A94"/>
              </a:buClr>
              <a:buSzPts val="1600"/>
              <a:buFont typeface="Arial"/>
              <a:buNone/>
            </a:pPr>
            <a:r>
              <a:rPr b="1" i="0" lang="en-US" sz="1600" u="none" cap="none" strike="noStrike">
                <a:solidFill>
                  <a:srgbClr val="267A94"/>
                </a:solidFill>
                <a:latin typeface="Arial"/>
                <a:ea typeface="Arial"/>
                <a:cs typeface="Arial"/>
                <a:sym typeface="Arial"/>
              </a:rPr>
              <a:t>3</a:t>
            </a:r>
            <a:endParaRPr b="0" i="0" sz="1600" u="none" cap="none" strike="noStrike">
              <a:solidFill>
                <a:schemeClr val="dk1"/>
              </a:solidFill>
              <a:latin typeface="Arial"/>
              <a:ea typeface="Arial"/>
              <a:cs typeface="Arial"/>
              <a:sym typeface="Arial"/>
            </a:endParaRPr>
          </a:p>
        </p:txBody>
      </p:sp>
      <p:sp>
        <p:nvSpPr>
          <p:cNvPr id="72" name="Google Shape;72;h7c24e45f5df06284_0_5"/>
          <p:cNvSpPr/>
          <p:nvPr/>
        </p:nvSpPr>
        <p:spPr>
          <a:xfrm>
            <a:off x="1508760" y="3493008"/>
            <a:ext cx="3657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Lua extensibility</a:t>
            </a:r>
            <a:endParaRPr b="0" i="0" sz="1900" u="none" cap="none" strike="noStrike">
              <a:solidFill>
                <a:schemeClr val="dk1"/>
              </a:solidFill>
              <a:latin typeface="Arial"/>
              <a:ea typeface="Arial"/>
              <a:cs typeface="Arial"/>
              <a:sym typeface="Arial"/>
            </a:endParaRPr>
          </a:p>
        </p:txBody>
      </p:sp>
      <p:sp>
        <p:nvSpPr>
          <p:cNvPr id="73" name="Google Shape;73;h7c24e45f5df06284_0_5"/>
          <p:cNvSpPr/>
          <p:nvPr/>
        </p:nvSpPr>
        <p:spPr>
          <a:xfrm>
            <a:off x="5212080" y="3529584"/>
            <a:ext cx="5486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1640"/>
              <a:buFont typeface="Arial"/>
              <a:buNone/>
            </a:pPr>
            <a:r>
              <a:rPr b="0" i="0" lang="en-US" sz="1640" u="none" cap="none" strike="noStrike">
                <a:solidFill>
                  <a:srgbClr val="5E6D7C"/>
                </a:solidFill>
                <a:latin typeface="Arial"/>
                <a:ea typeface="Arial"/>
                <a:cs typeface="Arial"/>
                <a:sym typeface="Arial"/>
              </a:rPr>
              <a:t>User-defined logic and bindings</a:t>
            </a:r>
            <a:endParaRPr b="0" i="0" sz="1640" u="none" cap="none" strike="noStrike">
              <a:solidFill>
                <a:schemeClr val="dk1"/>
              </a:solidFill>
              <a:latin typeface="Arial"/>
              <a:ea typeface="Arial"/>
              <a:cs typeface="Arial"/>
              <a:sym typeface="Arial"/>
            </a:endParaRPr>
          </a:p>
        </p:txBody>
      </p:sp>
      <p:sp>
        <p:nvSpPr>
          <p:cNvPr id="74" name="Google Shape;74;h7c24e45f5df06284_0_5"/>
          <p:cNvSpPr/>
          <p:nvPr/>
        </p:nvSpPr>
        <p:spPr>
          <a:xfrm>
            <a:off x="749808" y="4197096"/>
            <a:ext cx="10698600" cy="640200"/>
          </a:xfrm>
          <a:prstGeom prst="roundRect">
            <a:avLst>
              <a:gd fmla="val 14286" name="adj"/>
            </a:avLst>
          </a:prstGeom>
          <a:solidFill>
            <a:srgbClr val="FFFFFF"/>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h7c24e45f5df06284_0_5"/>
          <p:cNvSpPr/>
          <p:nvPr/>
        </p:nvSpPr>
        <p:spPr>
          <a:xfrm>
            <a:off x="923544" y="4334256"/>
            <a:ext cx="356700" cy="365700"/>
          </a:xfrm>
          <a:prstGeom prst="roundRect">
            <a:avLst>
              <a:gd fmla="val 15385"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h7c24e45f5df06284_0_5"/>
          <p:cNvSpPr/>
          <p:nvPr/>
        </p:nvSpPr>
        <p:spPr>
          <a:xfrm>
            <a:off x="932688" y="4361688"/>
            <a:ext cx="338400" cy="28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7A94"/>
              </a:buClr>
              <a:buSzPts val="1600"/>
              <a:buFont typeface="Arial"/>
              <a:buNone/>
            </a:pPr>
            <a:r>
              <a:rPr b="1" i="0" lang="en-US" sz="1600" u="none" cap="none" strike="noStrike">
                <a:solidFill>
                  <a:srgbClr val="267A94"/>
                </a:solidFill>
                <a:latin typeface="Arial"/>
                <a:ea typeface="Arial"/>
                <a:cs typeface="Arial"/>
                <a:sym typeface="Arial"/>
              </a:rPr>
              <a:t>4</a:t>
            </a:r>
            <a:endParaRPr b="0" i="0" sz="1600" u="none" cap="none" strike="noStrike">
              <a:solidFill>
                <a:schemeClr val="dk1"/>
              </a:solidFill>
              <a:latin typeface="Arial"/>
              <a:ea typeface="Arial"/>
              <a:cs typeface="Arial"/>
              <a:sym typeface="Arial"/>
            </a:endParaRPr>
          </a:p>
        </p:txBody>
      </p:sp>
      <p:sp>
        <p:nvSpPr>
          <p:cNvPr id="77" name="Google Shape;77;h7c24e45f5df06284_0_5"/>
          <p:cNvSpPr/>
          <p:nvPr/>
        </p:nvSpPr>
        <p:spPr>
          <a:xfrm>
            <a:off x="1508760" y="4306824"/>
            <a:ext cx="3657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Built-in multiplexing</a:t>
            </a:r>
            <a:endParaRPr b="0" i="0" sz="1900" u="none" cap="none" strike="noStrike">
              <a:solidFill>
                <a:schemeClr val="dk1"/>
              </a:solidFill>
              <a:latin typeface="Arial"/>
              <a:ea typeface="Arial"/>
              <a:cs typeface="Arial"/>
              <a:sym typeface="Arial"/>
            </a:endParaRPr>
          </a:p>
        </p:txBody>
      </p:sp>
      <p:sp>
        <p:nvSpPr>
          <p:cNvPr id="78" name="Google Shape;78;h7c24e45f5df06284_0_5"/>
          <p:cNvSpPr/>
          <p:nvPr/>
        </p:nvSpPr>
        <p:spPr>
          <a:xfrm>
            <a:off x="5212080" y="4343400"/>
            <a:ext cx="5486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1640"/>
              <a:buFont typeface="Arial"/>
              <a:buNone/>
            </a:pPr>
            <a:r>
              <a:rPr b="0" i="0" lang="en-US" sz="1640" u="none" cap="none" strike="noStrike">
                <a:solidFill>
                  <a:srgbClr val="5E6D7C"/>
                </a:solidFill>
                <a:latin typeface="Arial"/>
                <a:ea typeface="Arial"/>
                <a:cs typeface="Arial"/>
                <a:sym typeface="Arial"/>
              </a:rPr>
              <a:t>Tabs, panes and remote sessions</a:t>
            </a:r>
            <a:endParaRPr b="0" i="0" sz="1640" u="none" cap="none" strike="noStrike">
              <a:solidFill>
                <a:schemeClr val="dk1"/>
              </a:solidFill>
              <a:latin typeface="Arial"/>
              <a:ea typeface="Arial"/>
              <a:cs typeface="Arial"/>
              <a:sym typeface="Arial"/>
            </a:endParaRPr>
          </a:p>
        </p:txBody>
      </p:sp>
      <p:sp>
        <p:nvSpPr>
          <p:cNvPr id="79" name="Google Shape;79;h7c24e45f5df06284_0_5"/>
          <p:cNvSpPr/>
          <p:nvPr/>
        </p:nvSpPr>
        <p:spPr>
          <a:xfrm>
            <a:off x="749808" y="5010912"/>
            <a:ext cx="10698600" cy="640200"/>
          </a:xfrm>
          <a:prstGeom prst="roundRect">
            <a:avLst>
              <a:gd fmla="val 14286" name="adj"/>
            </a:avLst>
          </a:prstGeom>
          <a:solidFill>
            <a:srgbClr val="F2F6F8"/>
          </a:solidFill>
          <a:ln cap="flat" cmpd="sng" w="9525">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h7c24e45f5df06284_0_5"/>
          <p:cNvSpPr/>
          <p:nvPr/>
        </p:nvSpPr>
        <p:spPr>
          <a:xfrm>
            <a:off x="923544" y="5148072"/>
            <a:ext cx="356700" cy="365700"/>
          </a:xfrm>
          <a:prstGeom prst="roundRect">
            <a:avLst>
              <a:gd fmla="val 15385"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h7c24e45f5df06284_0_5"/>
          <p:cNvSpPr/>
          <p:nvPr/>
        </p:nvSpPr>
        <p:spPr>
          <a:xfrm>
            <a:off x="932688" y="5175504"/>
            <a:ext cx="338400" cy="28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7A94"/>
              </a:buClr>
              <a:buSzPts val="1600"/>
              <a:buFont typeface="Arial"/>
              <a:buNone/>
            </a:pPr>
            <a:r>
              <a:rPr b="1" i="0" lang="en-US" sz="1600" u="none" cap="none" strike="noStrike">
                <a:solidFill>
                  <a:srgbClr val="267A94"/>
                </a:solidFill>
                <a:latin typeface="Arial"/>
                <a:ea typeface="Arial"/>
                <a:cs typeface="Arial"/>
                <a:sym typeface="Arial"/>
              </a:rPr>
              <a:t>5</a:t>
            </a:r>
            <a:endParaRPr b="0" i="0" sz="1600" u="none" cap="none" strike="noStrike">
              <a:solidFill>
                <a:schemeClr val="dk1"/>
              </a:solidFill>
              <a:latin typeface="Arial"/>
              <a:ea typeface="Arial"/>
              <a:cs typeface="Arial"/>
              <a:sym typeface="Arial"/>
            </a:endParaRPr>
          </a:p>
        </p:txBody>
      </p:sp>
      <p:sp>
        <p:nvSpPr>
          <p:cNvPr id="82" name="Google Shape;82;h7c24e45f5df06284_0_5"/>
          <p:cNvSpPr/>
          <p:nvPr/>
        </p:nvSpPr>
        <p:spPr>
          <a:xfrm>
            <a:off x="1508760" y="5120640"/>
            <a:ext cx="3657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Low latency</a:t>
            </a:r>
            <a:endParaRPr b="0" i="0" sz="1900" u="none" cap="none" strike="noStrike">
              <a:solidFill>
                <a:schemeClr val="dk1"/>
              </a:solidFill>
              <a:latin typeface="Arial"/>
              <a:ea typeface="Arial"/>
              <a:cs typeface="Arial"/>
              <a:sym typeface="Arial"/>
            </a:endParaRPr>
          </a:p>
        </p:txBody>
      </p:sp>
      <p:sp>
        <p:nvSpPr>
          <p:cNvPr id="83" name="Google Shape;83;h7c24e45f5df06284_0_5"/>
          <p:cNvSpPr/>
          <p:nvPr/>
        </p:nvSpPr>
        <p:spPr>
          <a:xfrm>
            <a:off x="5212080" y="5157216"/>
            <a:ext cx="54864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D7C"/>
              </a:buClr>
              <a:buSzPts val="1640"/>
              <a:buFont typeface="Arial"/>
              <a:buNone/>
            </a:pPr>
            <a:r>
              <a:rPr b="0" i="0" lang="en-US" sz="1640" u="none" cap="none" strike="noStrike">
                <a:solidFill>
                  <a:srgbClr val="5E6D7C"/>
                </a:solidFill>
                <a:latin typeface="Arial"/>
                <a:ea typeface="Arial"/>
                <a:cs typeface="Arial"/>
                <a:sym typeface="Arial"/>
              </a:rPr>
              <a:t>Responsive even under heavy output</a:t>
            </a:r>
            <a:endParaRPr b="0" i="0" sz="164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88" name="Shape 88"/>
        <p:cNvGrpSpPr/>
        <p:nvPr/>
      </p:nvGrpSpPr>
      <p:grpSpPr>
        <a:xfrm>
          <a:off x="0" y="0"/>
          <a:ext cx="0" cy="0"/>
          <a:chOff x="0" y="0"/>
          <a:chExt cx="0" cy="0"/>
        </a:xfrm>
      </p:grpSpPr>
      <p:sp>
        <p:nvSpPr>
          <p:cNvPr id="89" name="Google Shape;89;p3"/>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How we derived the architecture</a:t>
            </a:r>
            <a:endParaRPr b="0" i="0" sz="2800" u="none" cap="none" strike="noStrike">
              <a:solidFill>
                <a:schemeClr val="dk1"/>
              </a:solidFill>
              <a:latin typeface="Arial"/>
              <a:ea typeface="Arial"/>
              <a:cs typeface="Arial"/>
              <a:sym typeface="Arial"/>
            </a:endParaRPr>
          </a:p>
        </p:txBody>
      </p:sp>
      <p:sp>
        <p:nvSpPr>
          <p:cNvPr id="91" name="Google Shape;91;p3"/>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Recovery method</a:t>
            </a:r>
            <a:endParaRPr b="0" i="0" sz="1300" u="none" cap="none" strike="noStrike">
              <a:solidFill>
                <a:schemeClr val="dk1"/>
              </a:solidFill>
              <a:latin typeface="Arial"/>
              <a:ea typeface="Arial"/>
              <a:cs typeface="Arial"/>
              <a:sym typeface="Arial"/>
            </a:endParaRPr>
          </a:p>
        </p:txBody>
      </p:sp>
      <p:sp>
        <p:nvSpPr>
          <p:cNvPr id="92" name="Google Shape;92;p3"/>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MILES  ·  3/11</a:t>
            </a:r>
            <a:endParaRPr b="0" i="0" sz="1050" u="none" cap="none" strike="noStrike">
              <a:solidFill>
                <a:schemeClr val="dk1"/>
              </a:solidFill>
              <a:latin typeface="Arial"/>
              <a:ea typeface="Arial"/>
              <a:cs typeface="Arial"/>
              <a:sym typeface="Arial"/>
            </a:endParaRPr>
          </a:p>
        </p:txBody>
      </p:sp>
      <p:cxnSp>
        <p:nvCxnSpPr>
          <p:cNvPr id="93" name="Google Shape;93;p3"/>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94" name="Google Shape;94;p3"/>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95" name="Google Shape;95;p3"/>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§§1.3, 3.1–3.3, 5, 9</a:t>
            </a:r>
            <a:endParaRPr b="0" i="0" sz="900" u="none" cap="none" strike="noStrike">
              <a:solidFill>
                <a:schemeClr val="dk1"/>
              </a:solidFill>
              <a:latin typeface="Arial"/>
              <a:ea typeface="Arial"/>
              <a:cs typeface="Arial"/>
              <a:sym typeface="Arial"/>
            </a:endParaRPr>
          </a:p>
        </p:txBody>
      </p:sp>
      <p:sp>
        <p:nvSpPr>
          <p:cNvPr id="96" name="Google Shape;96;p3"/>
          <p:cNvSpPr/>
          <p:nvPr/>
        </p:nvSpPr>
        <p:spPr>
          <a:xfrm>
            <a:off x="658368" y="1581912"/>
            <a:ext cx="2642616" cy="2816352"/>
          </a:xfrm>
          <a:prstGeom prst="roundRect">
            <a:avLst>
              <a:gd fmla="val 4152"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841248" y="1801368"/>
            <a:ext cx="475488" cy="475488"/>
          </a:xfrm>
          <a:prstGeom prst="roundRect">
            <a:avLst>
              <a:gd fmla="val 23077"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850392" y="1874520"/>
            <a:ext cx="457200"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800"/>
              <a:buFont typeface="Arial"/>
              <a:buNone/>
            </a:pPr>
            <a:r>
              <a:rPr b="1" i="0" lang="en-US" sz="1800" u="none" cap="none" strike="noStrike">
                <a:solidFill>
                  <a:srgbClr val="267A94"/>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
        <p:nvSpPr>
          <p:cNvPr id="99" name="Google Shape;99;p3"/>
          <p:cNvSpPr/>
          <p:nvPr/>
        </p:nvSpPr>
        <p:spPr>
          <a:xfrm>
            <a:off x="850392" y="2487168"/>
            <a:ext cx="2258568" cy="5486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000"/>
              <a:buFont typeface="Arial"/>
              <a:buNone/>
            </a:pPr>
            <a:r>
              <a:rPr b="1" i="0" lang="en-US" sz="2000" u="none" cap="none" strike="noStrike">
                <a:solidFill>
                  <a:srgbClr val="1A2D42"/>
                </a:solidFill>
                <a:latin typeface="Arial"/>
                <a:ea typeface="Arial"/>
                <a:cs typeface="Arial"/>
                <a:sym typeface="Arial"/>
              </a:rPr>
              <a:t>Read primary sources</a:t>
            </a:r>
            <a:endParaRPr b="0" i="0" sz="2000" u="none" cap="none" strike="noStrike">
              <a:solidFill>
                <a:schemeClr val="dk1"/>
              </a:solidFill>
              <a:latin typeface="Arial"/>
              <a:ea typeface="Arial"/>
              <a:cs typeface="Arial"/>
              <a:sym typeface="Arial"/>
            </a:endParaRPr>
          </a:p>
        </p:txBody>
      </p:sp>
      <p:sp>
        <p:nvSpPr>
          <p:cNvPr id="100" name="Google Shape;100;p3"/>
          <p:cNvSpPr/>
          <p:nvPr/>
        </p:nvSpPr>
        <p:spPr>
          <a:xfrm>
            <a:off x="850392" y="3291840"/>
            <a:ext cx="2231136"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500"/>
              <a:buFont typeface="Arial"/>
              <a:buNone/>
            </a:pPr>
            <a:r>
              <a:rPr b="0" i="0" lang="en-US" sz="1500" u="none" cap="none" strike="noStrike">
                <a:solidFill>
                  <a:srgbClr val="5E6D7C"/>
                </a:solidFill>
                <a:latin typeface="Arial"/>
                <a:ea typeface="Arial"/>
                <a:cs typeface="Arial"/>
                <a:sym typeface="Arial"/>
              </a:rPr>
              <a:t>Documentation + repository structure</a:t>
            </a:r>
            <a:endParaRPr b="0" i="0" sz="1500" u="none" cap="none" strike="noStrike">
              <a:solidFill>
                <a:schemeClr val="dk1"/>
              </a:solidFill>
              <a:latin typeface="Arial"/>
              <a:ea typeface="Arial"/>
              <a:cs typeface="Arial"/>
              <a:sym typeface="Arial"/>
            </a:endParaRPr>
          </a:p>
        </p:txBody>
      </p:sp>
      <p:cxnSp>
        <p:nvCxnSpPr>
          <p:cNvPr id="101" name="Google Shape;101;p3"/>
          <p:cNvCxnSpPr/>
          <p:nvPr/>
        </p:nvCxnSpPr>
        <p:spPr>
          <a:xfrm>
            <a:off x="3328416" y="2907792"/>
            <a:ext cx="182880" cy="0"/>
          </a:xfrm>
          <a:prstGeom prst="straightConnector1">
            <a:avLst/>
          </a:prstGeom>
          <a:noFill/>
          <a:ln cap="flat" cmpd="sng" w="25400">
            <a:solidFill>
              <a:srgbClr val="267A94"/>
            </a:solidFill>
            <a:prstDash val="solid"/>
            <a:round/>
            <a:headEnd len="sm" w="sm" type="none"/>
            <a:tailEnd len="med" w="med" type="triangle"/>
          </a:ln>
        </p:spPr>
      </p:cxnSp>
      <p:sp>
        <p:nvSpPr>
          <p:cNvPr id="102" name="Google Shape;102;p3"/>
          <p:cNvSpPr/>
          <p:nvPr/>
        </p:nvSpPr>
        <p:spPr>
          <a:xfrm>
            <a:off x="3557016" y="1581912"/>
            <a:ext cx="2642616" cy="2816352"/>
          </a:xfrm>
          <a:prstGeom prst="roundRect">
            <a:avLst>
              <a:gd fmla="val 4152"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3739896" y="1801368"/>
            <a:ext cx="475488" cy="475488"/>
          </a:xfrm>
          <a:prstGeom prst="roundRect">
            <a:avLst>
              <a:gd fmla="val 23077"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3749040" y="1874520"/>
            <a:ext cx="457200"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800"/>
              <a:buFont typeface="Arial"/>
              <a:buNone/>
            </a:pPr>
            <a:r>
              <a:rPr b="1" i="0" lang="en-US" sz="1800" u="none" cap="none" strike="noStrike">
                <a:solidFill>
                  <a:srgbClr val="267A94"/>
                </a:solidFill>
                <a:latin typeface="Arial"/>
                <a:ea typeface="Arial"/>
                <a:cs typeface="Arial"/>
                <a:sym typeface="Arial"/>
              </a:rPr>
              <a:t>2</a:t>
            </a:r>
            <a:endParaRPr b="0" i="0" sz="1800" u="none" cap="none" strike="noStrike">
              <a:solidFill>
                <a:schemeClr val="dk1"/>
              </a:solidFill>
              <a:latin typeface="Arial"/>
              <a:ea typeface="Arial"/>
              <a:cs typeface="Arial"/>
              <a:sym typeface="Arial"/>
            </a:endParaRPr>
          </a:p>
        </p:txBody>
      </p:sp>
      <p:sp>
        <p:nvSpPr>
          <p:cNvPr id="105" name="Google Shape;105;p3"/>
          <p:cNvSpPr/>
          <p:nvPr/>
        </p:nvSpPr>
        <p:spPr>
          <a:xfrm>
            <a:off x="3749040" y="2487168"/>
            <a:ext cx="2258568" cy="5486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000"/>
              <a:buFont typeface="Arial"/>
              <a:buNone/>
            </a:pPr>
            <a:r>
              <a:rPr b="1" i="0" lang="en-US" sz="2000" u="none" cap="none" strike="noStrike">
                <a:solidFill>
                  <a:srgbClr val="1A2D42"/>
                </a:solidFill>
                <a:latin typeface="Arial"/>
                <a:ea typeface="Arial"/>
                <a:cs typeface="Arial"/>
                <a:sym typeface="Arial"/>
              </a:rPr>
              <a:t>Identify responsibilities</a:t>
            </a:r>
            <a:endParaRPr b="0" i="0" sz="2000" u="none" cap="none" strike="noStrike">
              <a:solidFill>
                <a:schemeClr val="dk1"/>
              </a:solidFill>
              <a:latin typeface="Arial"/>
              <a:ea typeface="Arial"/>
              <a:cs typeface="Arial"/>
              <a:sym typeface="Arial"/>
            </a:endParaRPr>
          </a:p>
        </p:txBody>
      </p:sp>
      <p:sp>
        <p:nvSpPr>
          <p:cNvPr id="106" name="Google Shape;106;p3"/>
          <p:cNvSpPr/>
          <p:nvPr/>
        </p:nvSpPr>
        <p:spPr>
          <a:xfrm>
            <a:off x="3749040" y="3291840"/>
            <a:ext cx="2231136"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500"/>
              <a:buFont typeface="Arial"/>
              <a:buNone/>
            </a:pPr>
            <a:r>
              <a:rPr b="0" i="0" lang="en-US" sz="1500" u="none" cap="none" strike="noStrike">
                <a:solidFill>
                  <a:srgbClr val="5E6D7C"/>
                </a:solidFill>
                <a:latin typeface="Arial"/>
                <a:ea typeface="Arial"/>
                <a:cs typeface="Arial"/>
                <a:sym typeface="Arial"/>
              </a:rPr>
              <a:t>Objectives → six conceptual subsystems</a:t>
            </a:r>
            <a:endParaRPr b="0" i="0" sz="1500" u="none" cap="none" strike="noStrike">
              <a:solidFill>
                <a:schemeClr val="dk1"/>
              </a:solidFill>
              <a:latin typeface="Arial"/>
              <a:ea typeface="Arial"/>
              <a:cs typeface="Arial"/>
              <a:sym typeface="Arial"/>
            </a:endParaRPr>
          </a:p>
        </p:txBody>
      </p:sp>
      <p:cxnSp>
        <p:nvCxnSpPr>
          <p:cNvPr id="107" name="Google Shape;107;p3"/>
          <p:cNvCxnSpPr/>
          <p:nvPr/>
        </p:nvCxnSpPr>
        <p:spPr>
          <a:xfrm>
            <a:off x="6227064" y="2907792"/>
            <a:ext cx="182880" cy="0"/>
          </a:xfrm>
          <a:prstGeom prst="straightConnector1">
            <a:avLst/>
          </a:prstGeom>
          <a:noFill/>
          <a:ln cap="flat" cmpd="sng" w="25400">
            <a:solidFill>
              <a:srgbClr val="267A94"/>
            </a:solidFill>
            <a:prstDash val="solid"/>
            <a:round/>
            <a:headEnd len="sm" w="sm" type="none"/>
            <a:tailEnd len="med" w="med" type="triangle"/>
          </a:ln>
        </p:spPr>
      </p:cxnSp>
      <p:sp>
        <p:nvSpPr>
          <p:cNvPr id="108" name="Google Shape;108;p3"/>
          <p:cNvSpPr/>
          <p:nvPr/>
        </p:nvSpPr>
        <p:spPr>
          <a:xfrm>
            <a:off x="6455664" y="1581912"/>
            <a:ext cx="2642616" cy="2816352"/>
          </a:xfrm>
          <a:prstGeom prst="roundRect">
            <a:avLst>
              <a:gd fmla="val 4152"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6638544" y="1801368"/>
            <a:ext cx="475488" cy="475488"/>
          </a:xfrm>
          <a:prstGeom prst="roundRect">
            <a:avLst>
              <a:gd fmla="val 23077"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6647688" y="1874520"/>
            <a:ext cx="457200"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800"/>
              <a:buFont typeface="Arial"/>
              <a:buNone/>
            </a:pPr>
            <a:r>
              <a:rPr b="1" i="0" lang="en-US" sz="1800" u="none" cap="none" strike="noStrike">
                <a:solidFill>
                  <a:srgbClr val="267A94"/>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111" name="Google Shape;111;p3"/>
          <p:cNvSpPr/>
          <p:nvPr/>
        </p:nvSpPr>
        <p:spPr>
          <a:xfrm>
            <a:off x="6647688" y="2487168"/>
            <a:ext cx="2258568" cy="5486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000"/>
              <a:buFont typeface="Arial"/>
              <a:buNone/>
            </a:pPr>
            <a:r>
              <a:rPr b="1" i="0" lang="en-US" sz="2000" u="none" cap="none" strike="noStrike">
                <a:solidFill>
                  <a:srgbClr val="1A2D42"/>
                </a:solidFill>
                <a:latin typeface="Arial"/>
                <a:ea typeface="Arial"/>
                <a:cs typeface="Arial"/>
                <a:sym typeface="Arial"/>
              </a:rPr>
              <a:t>Map dependencies</a:t>
            </a:r>
            <a:endParaRPr b="0" i="0" sz="2000" u="none" cap="none" strike="noStrike">
              <a:solidFill>
                <a:schemeClr val="dk1"/>
              </a:solidFill>
              <a:latin typeface="Arial"/>
              <a:ea typeface="Arial"/>
              <a:cs typeface="Arial"/>
              <a:sym typeface="Arial"/>
            </a:endParaRPr>
          </a:p>
        </p:txBody>
      </p:sp>
      <p:sp>
        <p:nvSpPr>
          <p:cNvPr id="112" name="Google Shape;112;p3"/>
          <p:cNvSpPr/>
          <p:nvPr/>
        </p:nvSpPr>
        <p:spPr>
          <a:xfrm>
            <a:off x="6647688" y="3291840"/>
            <a:ext cx="2231136"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500"/>
              <a:buFont typeface="Arial"/>
              <a:buNone/>
            </a:pPr>
            <a:r>
              <a:rPr b="0" i="0" lang="en-US" sz="1500" u="none" cap="none" strike="noStrike">
                <a:solidFill>
                  <a:srgbClr val="5E6D7C"/>
                </a:solidFill>
                <a:latin typeface="Arial"/>
                <a:ea typeface="Arial"/>
                <a:cs typeface="Arial"/>
                <a:sym typeface="Arial"/>
              </a:rPr>
              <a:t>Rust crates → box-and-arrow diagram</a:t>
            </a:r>
            <a:endParaRPr b="0" i="0" sz="1500" u="none" cap="none" strike="noStrike">
              <a:solidFill>
                <a:schemeClr val="dk1"/>
              </a:solidFill>
              <a:latin typeface="Arial"/>
              <a:ea typeface="Arial"/>
              <a:cs typeface="Arial"/>
              <a:sym typeface="Arial"/>
            </a:endParaRPr>
          </a:p>
        </p:txBody>
      </p:sp>
      <p:cxnSp>
        <p:nvCxnSpPr>
          <p:cNvPr id="113" name="Google Shape;113;p3"/>
          <p:cNvCxnSpPr/>
          <p:nvPr/>
        </p:nvCxnSpPr>
        <p:spPr>
          <a:xfrm>
            <a:off x="9125712" y="2907792"/>
            <a:ext cx="182880" cy="0"/>
          </a:xfrm>
          <a:prstGeom prst="straightConnector1">
            <a:avLst/>
          </a:prstGeom>
          <a:noFill/>
          <a:ln cap="flat" cmpd="sng" w="25400">
            <a:solidFill>
              <a:srgbClr val="267A94"/>
            </a:solidFill>
            <a:prstDash val="solid"/>
            <a:round/>
            <a:headEnd len="sm" w="sm" type="none"/>
            <a:tailEnd len="med" w="med" type="triangle"/>
          </a:ln>
        </p:spPr>
      </p:cxnSp>
      <p:sp>
        <p:nvSpPr>
          <p:cNvPr id="114" name="Google Shape;114;p3"/>
          <p:cNvSpPr/>
          <p:nvPr/>
        </p:nvSpPr>
        <p:spPr>
          <a:xfrm>
            <a:off x="9354312" y="1581912"/>
            <a:ext cx="2642616" cy="2816352"/>
          </a:xfrm>
          <a:prstGeom prst="roundRect">
            <a:avLst>
              <a:gd fmla="val 4152"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9537192" y="1801368"/>
            <a:ext cx="475488" cy="475488"/>
          </a:xfrm>
          <a:prstGeom prst="roundRect">
            <a:avLst>
              <a:gd fmla="val 23077"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9546336" y="1874520"/>
            <a:ext cx="457200" cy="3017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800"/>
              <a:buFont typeface="Arial"/>
              <a:buNone/>
            </a:pPr>
            <a:r>
              <a:rPr b="1" i="0" lang="en-US" sz="1800" u="none" cap="none" strike="noStrike">
                <a:solidFill>
                  <a:srgbClr val="267A94"/>
                </a:solidFill>
                <a:latin typeface="Arial"/>
                <a:ea typeface="Arial"/>
                <a:cs typeface="Arial"/>
                <a:sym typeface="Arial"/>
              </a:rPr>
              <a:t>4</a:t>
            </a:r>
            <a:endParaRPr b="0" i="0" sz="1800" u="none" cap="none" strike="noStrike">
              <a:solidFill>
                <a:schemeClr val="dk1"/>
              </a:solidFill>
              <a:latin typeface="Arial"/>
              <a:ea typeface="Arial"/>
              <a:cs typeface="Arial"/>
              <a:sym typeface="Arial"/>
            </a:endParaRPr>
          </a:p>
        </p:txBody>
      </p:sp>
      <p:sp>
        <p:nvSpPr>
          <p:cNvPr id="117" name="Google Shape;117;p3"/>
          <p:cNvSpPr/>
          <p:nvPr/>
        </p:nvSpPr>
        <p:spPr>
          <a:xfrm>
            <a:off x="9546336" y="2487168"/>
            <a:ext cx="2258568" cy="5486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000"/>
              <a:buFont typeface="Arial"/>
              <a:buNone/>
            </a:pPr>
            <a:r>
              <a:rPr b="1" i="0" lang="en-US" sz="2000" u="none" cap="none" strike="noStrike">
                <a:solidFill>
                  <a:srgbClr val="1A2D42"/>
                </a:solidFill>
                <a:latin typeface="Arial"/>
                <a:ea typeface="Arial"/>
                <a:cs typeface="Arial"/>
                <a:sym typeface="Arial"/>
              </a:rPr>
              <a:t>Validate with behaviour</a:t>
            </a:r>
            <a:endParaRPr b="0" i="0" sz="2000" u="none" cap="none" strike="noStrike">
              <a:solidFill>
                <a:schemeClr val="dk1"/>
              </a:solidFill>
              <a:latin typeface="Arial"/>
              <a:ea typeface="Arial"/>
              <a:cs typeface="Arial"/>
              <a:sym typeface="Arial"/>
            </a:endParaRPr>
          </a:p>
        </p:txBody>
      </p:sp>
      <p:sp>
        <p:nvSpPr>
          <p:cNvPr id="118" name="Google Shape;118;p3"/>
          <p:cNvSpPr/>
          <p:nvPr/>
        </p:nvSpPr>
        <p:spPr>
          <a:xfrm>
            <a:off x="9546336" y="3291840"/>
            <a:ext cx="2231136"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500"/>
              <a:buFont typeface="Arial"/>
              <a:buNone/>
            </a:pPr>
            <a:r>
              <a:rPr b="0" i="0" lang="en-US" sz="1500" u="none" cap="none" strike="noStrike">
                <a:solidFill>
                  <a:srgbClr val="5E6D7C"/>
                </a:solidFill>
                <a:latin typeface="Arial"/>
                <a:ea typeface="Arial"/>
                <a:cs typeface="Arial"/>
                <a:sym typeface="Arial"/>
              </a:rPr>
              <a:t>Trace two use cases and control handoffs</a:t>
            </a:r>
            <a:endParaRPr b="0" i="0" sz="1500" u="none" cap="none" strike="noStrike">
              <a:solidFill>
                <a:schemeClr val="dk1"/>
              </a:solidFill>
              <a:latin typeface="Arial"/>
              <a:ea typeface="Arial"/>
              <a:cs typeface="Arial"/>
              <a:sym typeface="Arial"/>
            </a:endParaRPr>
          </a:p>
        </p:txBody>
      </p:sp>
      <p:sp>
        <p:nvSpPr>
          <p:cNvPr id="119" name="Google Shape;119;p3"/>
          <p:cNvSpPr/>
          <p:nvPr/>
        </p:nvSpPr>
        <p:spPr>
          <a:xfrm>
            <a:off x="713232" y="4791456"/>
            <a:ext cx="10789920" cy="960120"/>
          </a:xfrm>
          <a:prstGeom prst="roundRect">
            <a:avLst>
              <a:gd fmla="val 9524" name="adj"/>
            </a:avLst>
          </a:prstGeom>
          <a:solidFill>
            <a:srgbClr val="EAF4F4"/>
          </a:solidFill>
          <a:ln cap="flat" cmpd="sng" w="12700">
            <a:solidFill>
              <a:srgbClr val="EAF4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960120" y="4974336"/>
            <a:ext cx="205740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750"/>
              <a:buFont typeface="Arial"/>
              <a:buNone/>
            </a:pPr>
            <a:r>
              <a:rPr b="1" i="0" lang="en-US" sz="1750" u="none" cap="none" strike="noStrike">
                <a:solidFill>
                  <a:srgbClr val="1A2D42"/>
                </a:solidFill>
                <a:latin typeface="Arial"/>
                <a:ea typeface="Arial"/>
                <a:cs typeface="Arial"/>
                <a:sym typeface="Arial"/>
              </a:rPr>
              <a:t>Scope of A1</a:t>
            </a:r>
            <a:endParaRPr b="0" i="0" sz="1750" u="none" cap="none" strike="noStrike">
              <a:solidFill>
                <a:schemeClr val="dk1"/>
              </a:solidFill>
              <a:latin typeface="Arial"/>
              <a:ea typeface="Arial"/>
              <a:cs typeface="Arial"/>
              <a:sym typeface="Arial"/>
            </a:endParaRPr>
          </a:p>
        </p:txBody>
      </p:sp>
      <p:sp>
        <p:nvSpPr>
          <p:cNvPr id="121" name="Google Shape;121;p3"/>
          <p:cNvSpPr/>
          <p:nvPr/>
        </p:nvSpPr>
        <p:spPr>
          <a:xfrm>
            <a:off x="2816352" y="4956048"/>
            <a:ext cx="836676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679"/>
              <a:buFont typeface="Arial"/>
              <a:buNone/>
            </a:pPr>
            <a:r>
              <a:rPr b="0" i="0" lang="en-US" sz="1680" u="none" cap="none" strike="noStrike">
                <a:solidFill>
                  <a:srgbClr val="243646"/>
                </a:solidFill>
                <a:latin typeface="Arial"/>
                <a:ea typeface="Arial"/>
                <a:cs typeface="Arial"/>
                <a:sym typeface="Arial"/>
              </a:rPr>
              <a:t>Conceptual subsystem roles and interactions — not a complete code-level dependency analysis (reserved for A2).</a:t>
            </a:r>
            <a:endParaRPr b="0" i="0" sz="168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126" name="Shape 126"/>
        <p:cNvGrpSpPr/>
        <p:nvPr/>
      </p:nvGrpSpPr>
      <p:grpSpPr>
        <a:xfrm>
          <a:off x="0" y="0"/>
          <a:ext cx="0" cy="0"/>
          <a:chOff x="0" y="0"/>
          <a:chExt cx="0" cy="0"/>
        </a:xfrm>
      </p:grpSpPr>
      <p:sp>
        <p:nvSpPr>
          <p:cNvPr id="127" name="Google Shape;127;p4"/>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System at a glance</a:t>
            </a:r>
            <a:endParaRPr b="0" i="0" sz="2800" u="none" cap="none" strike="noStrike">
              <a:solidFill>
                <a:schemeClr val="dk1"/>
              </a:solidFill>
              <a:latin typeface="Arial"/>
              <a:ea typeface="Arial"/>
              <a:cs typeface="Arial"/>
              <a:sym typeface="Arial"/>
            </a:endParaRPr>
          </a:p>
        </p:txBody>
      </p:sp>
      <p:sp>
        <p:nvSpPr>
          <p:cNvPr id="129" name="Google Shape;129;p4"/>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Top-level box-and-arrow diagram</a:t>
            </a:r>
            <a:endParaRPr b="0" i="0" sz="1300" u="none" cap="none" strike="noStrike">
              <a:solidFill>
                <a:schemeClr val="dk1"/>
              </a:solidFill>
              <a:latin typeface="Arial"/>
              <a:ea typeface="Arial"/>
              <a:cs typeface="Arial"/>
              <a:sym typeface="Arial"/>
            </a:endParaRPr>
          </a:p>
        </p:txBody>
      </p:sp>
      <p:sp>
        <p:nvSpPr>
          <p:cNvPr id="130" name="Google Shape;130;p4"/>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MILES  ·  4/11</a:t>
            </a:r>
            <a:endParaRPr b="0" i="0" sz="1050" u="none" cap="none" strike="noStrike">
              <a:solidFill>
                <a:schemeClr val="dk1"/>
              </a:solidFill>
              <a:latin typeface="Arial"/>
              <a:ea typeface="Arial"/>
              <a:cs typeface="Arial"/>
              <a:sym typeface="Arial"/>
            </a:endParaRPr>
          </a:p>
        </p:txBody>
      </p:sp>
      <p:cxnSp>
        <p:nvCxnSpPr>
          <p:cNvPr id="131" name="Google Shape;131;p4"/>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132" name="Google Shape;132;p4"/>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133" name="Google Shape;133;p4"/>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Figure 1, §§3.1–3.2</a:t>
            </a:r>
            <a:endParaRPr b="0" i="0" sz="900" u="none" cap="none" strike="noStrike">
              <a:solidFill>
                <a:schemeClr val="dk1"/>
              </a:solidFill>
              <a:latin typeface="Arial"/>
              <a:ea typeface="Arial"/>
              <a:cs typeface="Arial"/>
              <a:sym typeface="Arial"/>
            </a:endParaRPr>
          </a:p>
        </p:txBody>
      </p:sp>
      <p:sp>
        <p:nvSpPr>
          <p:cNvPr id="134" name="Google Shape;134;p4"/>
          <p:cNvSpPr/>
          <p:nvPr/>
        </p:nvSpPr>
        <p:spPr>
          <a:xfrm>
            <a:off x="649224" y="1124712"/>
            <a:ext cx="1074420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750"/>
              <a:buFont typeface="Arial"/>
              <a:buNone/>
            </a:pPr>
            <a:r>
              <a:rPr b="0" i="0" lang="en-US" sz="1750" u="none" cap="none" strike="noStrike">
                <a:solidFill>
                  <a:srgbClr val="5E6D7C"/>
                </a:solidFill>
                <a:latin typeface="Arial"/>
                <a:ea typeface="Arial"/>
                <a:cs typeface="Arial"/>
                <a:sym typeface="Arial"/>
              </a:rPr>
              <a:t>Six subsystems + the external environment</a:t>
            </a:r>
            <a:endParaRPr b="0" i="0" sz="1750" u="none" cap="none" strike="noStrike">
              <a:solidFill>
                <a:schemeClr val="dk1"/>
              </a:solidFill>
              <a:latin typeface="Arial"/>
              <a:ea typeface="Arial"/>
              <a:cs typeface="Arial"/>
              <a:sym typeface="Arial"/>
            </a:endParaRPr>
          </a:p>
        </p:txBody>
      </p:sp>
      <p:sp>
        <p:nvSpPr>
          <p:cNvPr id="135" name="Google Shape;135;p4"/>
          <p:cNvSpPr/>
          <p:nvPr/>
        </p:nvSpPr>
        <p:spPr>
          <a:xfrm>
            <a:off x="822960" y="1591056"/>
            <a:ext cx="2011680" cy="411480"/>
          </a:xfrm>
          <a:prstGeom prst="roundRect">
            <a:avLst>
              <a:gd fmla="val 15556" name="adj"/>
            </a:avLst>
          </a:prstGeom>
          <a:solidFill>
            <a:srgbClr val="F2F6F8"/>
          </a:solidFill>
          <a:ln cap="flat" cmpd="sng" w="101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923544" y="1636776"/>
            <a:ext cx="1828800"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E6D7C"/>
              </a:buClr>
              <a:buSzPts val="1350"/>
              <a:buFont typeface="Arial"/>
              <a:buNone/>
            </a:pPr>
            <a:r>
              <a:rPr b="0" i="0" lang="en-US" sz="1350" u="none" cap="none" strike="noStrike">
                <a:solidFill>
                  <a:srgbClr val="5E6D7C"/>
                </a:solidFill>
                <a:latin typeface="Arial"/>
                <a:ea typeface="Arial"/>
                <a:cs typeface="Arial"/>
                <a:sym typeface="Arial"/>
              </a:rPr>
              <a:t>User / OS input</a:t>
            </a:r>
            <a:endParaRPr b="0" i="0" sz="1350" u="none" cap="none" strike="noStrike">
              <a:solidFill>
                <a:schemeClr val="dk1"/>
              </a:solidFill>
              <a:latin typeface="Arial"/>
              <a:ea typeface="Arial"/>
              <a:cs typeface="Arial"/>
              <a:sym typeface="Arial"/>
            </a:endParaRPr>
          </a:p>
        </p:txBody>
      </p:sp>
      <p:sp>
        <p:nvSpPr>
          <p:cNvPr id="137" name="Google Shape;137;p4"/>
          <p:cNvSpPr/>
          <p:nvPr/>
        </p:nvSpPr>
        <p:spPr>
          <a:xfrm>
            <a:off x="9372600" y="1591056"/>
            <a:ext cx="2011680" cy="411480"/>
          </a:xfrm>
          <a:prstGeom prst="roundRect">
            <a:avLst>
              <a:gd fmla="val 15556" name="adj"/>
            </a:avLst>
          </a:prstGeom>
          <a:solidFill>
            <a:srgbClr val="F2F6F8"/>
          </a:solidFill>
          <a:ln cap="flat" cmpd="sng" w="101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9464040" y="1636776"/>
            <a:ext cx="1828800"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E6D7C"/>
              </a:buClr>
              <a:buSzPts val="1350"/>
              <a:buFont typeface="Arial"/>
              <a:buNone/>
            </a:pPr>
            <a:r>
              <a:rPr b="0" i="0" lang="en-US" sz="1350" u="none" cap="none" strike="noStrike">
                <a:solidFill>
                  <a:srgbClr val="5E6D7C"/>
                </a:solidFill>
                <a:latin typeface="Arial"/>
                <a:ea typeface="Arial"/>
                <a:cs typeface="Arial"/>
                <a:sym typeface="Arial"/>
              </a:rPr>
              <a:t>Display / GPU</a:t>
            </a:r>
            <a:endParaRPr b="0" i="0" sz="1350" u="none" cap="none" strike="noStrike">
              <a:solidFill>
                <a:schemeClr val="dk1"/>
              </a:solidFill>
              <a:latin typeface="Arial"/>
              <a:ea typeface="Arial"/>
              <a:cs typeface="Arial"/>
              <a:sym typeface="Arial"/>
            </a:endParaRPr>
          </a:p>
        </p:txBody>
      </p:sp>
      <p:sp>
        <p:nvSpPr>
          <p:cNvPr id="139" name="Google Shape;139;p4"/>
          <p:cNvSpPr/>
          <p:nvPr/>
        </p:nvSpPr>
        <p:spPr>
          <a:xfrm>
            <a:off x="777240" y="2167128"/>
            <a:ext cx="2212848" cy="960120"/>
          </a:xfrm>
          <a:prstGeom prst="roundRect">
            <a:avLst>
              <a:gd fmla="val 14286" name="adj"/>
            </a:avLst>
          </a:prstGeom>
          <a:solidFill>
            <a:srgbClr val="FFFFFF"/>
          </a:solidFill>
          <a:ln cap="flat" cmpd="sng" w="190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868680" y="2249424"/>
            <a:ext cx="2029968"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GUI / Frontend</a:t>
            </a:r>
            <a:endParaRPr b="0" i="0" sz="1680" u="none" cap="none" strike="noStrike">
              <a:solidFill>
                <a:schemeClr val="dk1"/>
              </a:solidFill>
              <a:latin typeface="Arial"/>
              <a:ea typeface="Arial"/>
              <a:cs typeface="Arial"/>
              <a:sym typeface="Arial"/>
            </a:endParaRPr>
          </a:p>
        </p:txBody>
      </p:sp>
      <p:sp>
        <p:nvSpPr>
          <p:cNvPr id="141" name="Google Shape;141;p4"/>
          <p:cNvSpPr/>
          <p:nvPr/>
        </p:nvSpPr>
        <p:spPr>
          <a:xfrm>
            <a:off x="886968" y="2587752"/>
            <a:ext cx="1993392" cy="512064"/>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Windowing, input events</a:t>
            </a:r>
            <a:endParaRPr b="0" i="0" sz="1180" u="none" cap="none" strike="noStrike">
              <a:solidFill>
                <a:schemeClr val="dk1"/>
              </a:solidFill>
              <a:latin typeface="Arial"/>
              <a:ea typeface="Arial"/>
              <a:cs typeface="Arial"/>
              <a:sym typeface="Arial"/>
            </a:endParaRPr>
          </a:p>
        </p:txBody>
      </p:sp>
      <p:sp>
        <p:nvSpPr>
          <p:cNvPr id="142" name="Google Shape;142;p4"/>
          <p:cNvSpPr/>
          <p:nvPr/>
        </p:nvSpPr>
        <p:spPr>
          <a:xfrm>
            <a:off x="4599432" y="2167128"/>
            <a:ext cx="2999232" cy="960120"/>
          </a:xfrm>
          <a:prstGeom prst="roundRect">
            <a:avLst>
              <a:gd fmla="val 14286" name="adj"/>
            </a:avLst>
          </a:prstGeom>
          <a:solidFill>
            <a:srgbClr val="DDEFF2"/>
          </a:solidFill>
          <a:ln cap="flat" cmpd="sng" w="19050">
            <a:solidFill>
              <a:srgbClr val="267A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4690872" y="2249424"/>
            <a:ext cx="2816352"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Multiplexer (Mux)</a:t>
            </a:r>
            <a:endParaRPr b="0" i="0" sz="1680" u="none" cap="none" strike="noStrike">
              <a:solidFill>
                <a:schemeClr val="dk1"/>
              </a:solidFill>
              <a:latin typeface="Arial"/>
              <a:ea typeface="Arial"/>
              <a:cs typeface="Arial"/>
              <a:sym typeface="Arial"/>
            </a:endParaRPr>
          </a:p>
        </p:txBody>
      </p:sp>
      <p:sp>
        <p:nvSpPr>
          <p:cNvPr id="144" name="Google Shape;144;p4"/>
          <p:cNvSpPr/>
          <p:nvPr/>
        </p:nvSpPr>
        <p:spPr>
          <a:xfrm>
            <a:off x="4709160" y="2587752"/>
            <a:ext cx="2779776" cy="512064"/>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Windows • tabs • panes • domains</a:t>
            </a:r>
            <a:endParaRPr b="0" i="0" sz="1180" u="none" cap="none" strike="noStrike">
              <a:solidFill>
                <a:schemeClr val="dk1"/>
              </a:solidFill>
              <a:latin typeface="Arial"/>
              <a:ea typeface="Arial"/>
              <a:cs typeface="Arial"/>
              <a:sym typeface="Arial"/>
            </a:endParaRPr>
          </a:p>
        </p:txBody>
      </p:sp>
      <p:sp>
        <p:nvSpPr>
          <p:cNvPr id="145" name="Google Shape;145;p4"/>
          <p:cNvSpPr/>
          <p:nvPr/>
        </p:nvSpPr>
        <p:spPr>
          <a:xfrm>
            <a:off x="9208008" y="2167128"/>
            <a:ext cx="2212848" cy="960120"/>
          </a:xfrm>
          <a:prstGeom prst="roundRect">
            <a:avLst>
              <a:gd fmla="val 14286" name="adj"/>
            </a:avLst>
          </a:prstGeom>
          <a:solidFill>
            <a:srgbClr val="FFFFFF"/>
          </a:solidFill>
          <a:ln cap="flat" cmpd="sng" w="190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9299448" y="2249424"/>
            <a:ext cx="2029968"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GPU Rendering</a:t>
            </a:r>
            <a:endParaRPr b="0" i="0" sz="1680" u="none" cap="none" strike="noStrike">
              <a:solidFill>
                <a:schemeClr val="dk1"/>
              </a:solidFill>
              <a:latin typeface="Arial"/>
              <a:ea typeface="Arial"/>
              <a:cs typeface="Arial"/>
              <a:sym typeface="Arial"/>
            </a:endParaRPr>
          </a:p>
        </p:txBody>
      </p:sp>
      <p:sp>
        <p:nvSpPr>
          <p:cNvPr id="147" name="Google Shape;147;p4"/>
          <p:cNvSpPr/>
          <p:nvPr/>
        </p:nvSpPr>
        <p:spPr>
          <a:xfrm>
            <a:off x="9317736" y="2587752"/>
            <a:ext cx="1993392" cy="512064"/>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Fonts, glyph atlas, drawing</a:t>
            </a:r>
            <a:endParaRPr b="0" i="0" sz="1180" u="none" cap="none" strike="noStrike">
              <a:solidFill>
                <a:schemeClr val="dk1"/>
              </a:solidFill>
              <a:latin typeface="Arial"/>
              <a:ea typeface="Arial"/>
              <a:cs typeface="Arial"/>
              <a:sym typeface="Arial"/>
            </a:endParaRPr>
          </a:p>
        </p:txBody>
      </p:sp>
      <p:sp>
        <p:nvSpPr>
          <p:cNvPr id="148" name="Google Shape;148;p4"/>
          <p:cNvSpPr/>
          <p:nvPr/>
        </p:nvSpPr>
        <p:spPr>
          <a:xfrm>
            <a:off x="2231136" y="4050792"/>
            <a:ext cx="3099816" cy="1014984"/>
          </a:xfrm>
          <a:prstGeom prst="roundRect">
            <a:avLst>
              <a:gd fmla="val 13514" name="adj"/>
            </a:avLst>
          </a:prstGeom>
          <a:solidFill>
            <a:srgbClr val="FFFFFF"/>
          </a:solidFill>
          <a:ln cap="flat" cmpd="sng" w="190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2322576" y="4133088"/>
            <a:ext cx="2916936"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Terminal Emulation Core</a:t>
            </a:r>
            <a:endParaRPr b="0" i="0" sz="1680" u="none" cap="none" strike="noStrike">
              <a:solidFill>
                <a:schemeClr val="dk1"/>
              </a:solidFill>
              <a:latin typeface="Arial"/>
              <a:ea typeface="Arial"/>
              <a:cs typeface="Arial"/>
              <a:sym typeface="Arial"/>
            </a:endParaRPr>
          </a:p>
        </p:txBody>
      </p:sp>
      <p:sp>
        <p:nvSpPr>
          <p:cNvPr id="150" name="Google Shape;150;p4"/>
          <p:cNvSpPr/>
          <p:nvPr/>
        </p:nvSpPr>
        <p:spPr>
          <a:xfrm>
            <a:off x="2340864" y="4471416"/>
            <a:ext cx="2880360" cy="566928"/>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Escape sequences, screen state</a:t>
            </a:r>
            <a:endParaRPr b="0" i="0" sz="1180" u="none" cap="none" strike="noStrike">
              <a:solidFill>
                <a:schemeClr val="dk1"/>
              </a:solidFill>
              <a:latin typeface="Arial"/>
              <a:ea typeface="Arial"/>
              <a:cs typeface="Arial"/>
              <a:sym typeface="Arial"/>
            </a:endParaRPr>
          </a:p>
        </p:txBody>
      </p:sp>
      <p:sp>
        <p:nvSpPr>
          <p:cNvPr id="151" name="Google Shape;151;p4"/>
          <p:cNvSpPr/>
          <p:nvPr/>
        </p:nvSpPr>
        <p:spPr>
          <a:xfrm>
            <a:off x="6867144" y="4050792"/>
            <a:ext cx="3099816" cy="1014984"/>
          </a:xfrm>
          <a:prstGeom prst="roundRect">
            <a:avLst>
              <a:gd fmla="val 13514" name="adj"/>
            </a:avLst>
          </a:prstGeom>
          <a:solidFill>
            <a:srgbClr val="FFFFFF"/>
          </a:solidFill>
          <a:ln cap="flat" cmpd="sng" w="190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6958584" y="4133088"/>
            <a:ext cx="2916936"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SSH / Networking</a:t>
            </a:r>
            <a:endParaRPr b="0" i="0" sz="1680" u="none" cap="none" strike="noStrike">
              <a:solidFill>
                <a:schemeClr val="dk1"/>
              </a:solidFill>
              <a:latin typeface="Arial"/>
              <a:ea typeface="Arial"/>
              <a:cs typeface="Arial"/>
              <a:sym typeface="Arial"/>
            </a:endParaRPr>
          </a:p>
        </p:txBody>
      </p:sp>
      <p:sp>
        <p:nvSpPr>
          <p:cNvPr id="153" name="Google Shape;153;p4"/>
          <p:cNvSpPr/>
          <p:nvPr/>
        </p:nvSpPr>
        <p:spPr>
          <a:xfrm>
            <a:off x="6976872" y="4471416"/>
            <a:ext cx="2880360" cy="566928"/>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Remote connection + mux protocol</a:t>
            </a:r>
            <a:endParaRPr b="0" i="0" sz="1180" u="none" cap="none" strike="noStrike">
              <a:solidFill>
                <a:schemeClr val="dk1"/>
              </a:solidFill>
              <a:latin typeface="Arial"/>
              <a:ea typeface="Arial"/>
              <a:cs typeface="Arial"/>
              <a:sym typeface="Arial"/>
            </a:endParaRPr>
          </a:p>
        </p:txBody>
      </p:sp>
      <p:sp>
        <p:nvSpPr>
          <p:cNvPr id="154" name="Google Shape;154;p4"/>
          <p:cNvSpPr/>
          <p:nvPr/>
        </p:nvSpPr>
        <p:spPr>
          <a:xfrm>
            <a:off x="4224528" y="5532120"/>
            <a:ext cx="3739896" cy="612648"/>
          </a:xfrm>
          <a:prstGeom prst="roundRect">
            <a:avLst>
              <a:gd fmla="val 22388" name="adj"/>
            </a:avLst>
          </a:prstGeom>
          <a:solidFill>
            <a:srgbClr val="F2F6F8"/>
          </a:solidFill>
          <a:ln cap="flat" cmpd="sng" w="190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4315968" y="5614416"/>
            <a:ext cx="3557016"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Configuration System</a:t>
            </a:r>
            <a:endParaRPr b="0" i="0" sz="1680" u="none" cap="none" strike="noStrike">
              <a:solidFill>
                <a:schemeClr val="dk1"/>
              </a:solidFill>
              <a:latin typeface="Arial"/>
              <a:ea typeface="Arial"/>
              <a:cs typeface="Arial"/>
              <a:sym typeface="Arial"/>
            </a:endParaRPr>
          </a:p>
        </p:txBody>
      </p:sp>
      <p:sp>
        <p:nvSpPr>
          <p:cNvPr id="156" name="Google Shape;156;p4"/>
          <p:cNvSpPr/>
          <p:nvPr/>
        </p:nvSpPr>
        <p:spPr>
          <a:xfrm>
            <a:off x="4334256" y="5952744"/>
            <a:ext cx="3520440" cy="164592"/>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wezterm.lua · cross-cutting settings</a:t>
            </a:r>
            <a:endParaRPr b="0" i="0" sz="1180" u="none" cap="none" strike="noStrike">
              <a:solidFill>
                <a:schemeClr val="dk1"/>
              </a:solidFill>
              <a:latin typeface="Arial"/>
              <a:ea typeface="Arial"/>
              <a:cs typeface="Arial"/>
              <a:sym typeface="Arial"/>
            </a:endParaRPr>
          </a:p>
        </p:txBody>
      </p:sp>
      <p:sp>
        <p:nvSpPr>
          <p:cNvPr id="157" name="Google Shape;157;p4"/>
          <p:cNvSpPr/>
          <p:nvPr/>
        </p:nvSpPr>
        <p:spPr>
          <a:xfrm>
            <a:off x="502920" y="4261104"/>
            <a:ext cx="1472184" cy="521208"/>
          </a:xfrm>
          <a:prstGeom prst="roundRect">
            <a:avLst>
              <a:gd fmla="val 12281" name="adj"/>
            </a:avLst>
          </a:prstGeom>
          <a:solidFill>
            <a:srgbClr val="F2F6F8"/>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603504" y="4379976"/>
            <a:ext cx="128016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E6D7C"/>
              </a:buClr>
              <a:buSzPts val="1330"/>
              <a:buFont typeface="Arial"/>
              <a:buNone/>
            </a:pPr>
            <a:r>
              <a:rPr b="0" i="0" lang="en-US" sz="1330" u="none" cap="none" strike="noStrike">
                <a:solidFill>
                  <a:srgbClr val="5E6D7C"/>
                </a:solidFill>
                <a:latin typeface="Arial"/>
                <a:ea typeface="Arial"/>
                <a:cs typeface="Arial"/>
                <a:sym typeface="Arial"/>
              </a:rPr>
              <a:t>Shell / PTY</a:t>
            </a:r>
            <a:endParaRPr b="0" i="0" sz="1330" u="none" cap="none" strike="noStrike">
              <a:solidFill>
                <a:schemeClr val="dk1"/>
              </a:solidFill>
              <a:latin typeface="Arial"/>
              <a:ea typeface="Arial"/>
              <a:cs typeface="Arial"/>
              <a:sym typeface="Arial"/>
            </a:endParaRPr>
          </a:p>
        </p:txBody>
      </p:sp>
      <p:cxnSp>
        <p:nvCxnSpPr>
          <p:cNvPr id="159" name="Google Shape;159;p4"/>
          <p:cNvCxnSpPr/>
          <p:nvPr/>
        </p:nvCxnSpPr>
        <p:spPr>
          <a:xfrm>
            <a:off x="1865376" y="2002536"/>
            <a:ext cx="0" cy="164592"/>
          </a:xfrm>
          <a:prstGeom prst="straightConnector1">
            <a:avLst/>
          </a:prstGeom>
          <a:noFill/>
          <a:ln cap="flat" cmpd="sng" w="16500">
            <a:solidFill>
              <a:srgbClr val="5E6D7C"/>
            </a:solidFill>
            <a:prstDash val="solid"/>
            <a:round/>
            <a:headEnd len="sm" w="sm" type="none"/>
            <a:tailEnd len="sm" w="sm" type="none"/>
          </a:ln>
        </p:spPr>
      </p:cxnSp>
      <p:cxnSp>
        <p:nvCxnSpPr>
          <p:cNvPr id="160" name="Google Shape;160;p4"/>
          <p:cNvCxnSpPr/>
          <p:nvPr/>
        </p:nvCxnSpPr>
        <p:spPr>
          <a:xfrm rot="10800000">
            <a:off x="10314432" y="2002536"/>
            <a:ext cx="0" cy="1124712"/>
          </a:xfrm>
          <a:prstGeom prst="straightConnector1">
            <a:avLst/>
          </a:prstGeom>
          <a:noFill/>
          <a:ln cap="flat" cmpd="sng" w="16500">
            <a:solidFill>
              <a:srgbClr val="5E6D7C"/>
            </a:solidFill>
            <a:prstDash val="solid"/>
            <a:round/>
            <a:headEnd len="sm" w="sm" type="none"/>
            <a:tailEnd len="med" w="med" type="triangle"/>
          </a:ln>
        </p:spPr>
      </p:cxnSp>
      <p:cxnSp>
        <p:nvCxnSpPr>
          <p:cNvPr id="161" name="Google Shape;161;p4"/>
          <p:cNvCxnSpPr/>
          <p:nvPr/>
        </p:nvCxnSpPr>
        <p:spPr>
          <a:xfrm>
            <a:off x="2990088" y="2633472"/>
            <a:ext cx="1609344" cy="0"/>
          </a:xfrm>
          <a:prstGeom prst="straightConnector1">
            <a:avLst/>
          </a:prstGeom>
          <a:noFill/>
          <a:ln cap="flat" cmpd="sng" w="28575">
            <a:solidFill>
              <a:srgbClr val="267A94"/>
            </a:solidFill>
            <a:prstDash val="solid"/>
            <a:round/>
            <a:headEnd len="sm" w="sm" type="none"/>
            <a:tailEnd len="med" w="med" type="triangle"/>
          </a:ln>
        </p:spPr>
      </p:cxnSp>
      <p:cxnSp>
        <p:nvCxnSpPr>
          <p:cNvPr id="162" name="Google Shape;162;p4"/>
          <p:cNvCxnSpPr/>
          <p:nvPr/>
        </p:nvCxnSpPr>
        <p:spPr>
          <a:xfrm rot="10800000">
            <a:off x="7598664" y="2633472"/>
            <a:ext cx="1609344" cy="0"/>
          </a:xfrm>
          <a:prstGeom prst="straightConnector1">
            <a:avLst/>
          </a:prstGeom>
          <a:noFill/>
          <a:ln cap="flat" cmpd="sng" w="28575">
            <a:solidFill>
              <a:srgbClr val="267A94"/>
            </a:solidFill>
            <a:prstDash val="solid"/>
            <a:round/>
            <a:headEnd len="sm" w="sm" type="none"/>
            <a:tailEnd len="med" w="med" type="triangle"/>
          </a:ln>
        </p:spPr>
      </p:cxnSp>
      <p:cxnSp>
        <p:nvCxnSpPr>
          <p:cNvPr id="163" name="Google Shape;163;p4"/>
          <p:cNvCxnSpPr/>
          <p:nvPr/>
        </p:nvCxnSpPr>
        <p:spPr>
          <a:xfrm flipH="1">
            <a:off x="4133088" y="3127248"/>
            <a:ext cx="1399032" cy="923544"/>
          </a:xfrm>
          <a:prstGeom prst="straightConnector1">
            <a:avLst/>
          </a:prstGeom>
          <a:noFill/>
          <a:ln cap="flat" cmpd="sng" w="26650">
            <a:solidFill>
              <a:srgbClr val="267A94"/>
            </a:solidFill>
            <a:prstDash val="solid"/>
            <a:round/>
            <a:headEnd len="sm" w="sm" type="none"/>
            <a:tailEnd len="med" w="med" type="triangle"/>
          </a:ln>
        </p:spPr>
      </p:cxnSp>
      <p:cxnSp>
        <p:nvCxnSpPr>
          <p:cNvPr id="164" name="Google Shape;164;p4"/>
          <p:cNvCxnSpPr/>
          <p:nvPr/>
        </p:nvCxnSpPr>
        <p:spPr>
          <a:xfrm>
            <a:off x="6729984" y="3127248"/>
            <a:ext cx="1682496" cy="923544"/>
          </a:xfrm>
          <a:prstGeom prst="straightConnector1">
            <a:avLst/>
          </a:prstGeom>
          <a:noFill/>
          <a:ln cap="flat" cmpd="sng" w="26650">
            <a:solidFill>
              <a:srgbClr val="267A94"/>
            </a:solidFill>
            <a:prstDash val="solid"/>
            <a:round/>
            <a:headEnd len="sm" w="sm" type="none"/>
            <a:tailEnd len="med" w="med" type="triangle"/>
          </a:ln>
        </p:spPr>
      </p:cxnSp>
      <p:cxnSp>
        <p:nvCxnSpPr>
          <p:cNvPr id="165" name="Google Shape;165;p4"/>
          <p:cNvCxnSpPr/>
          <p:nvPr/>
        </p:nvCxnSpPr>
        <p:spPr>
          <a:xfrm>
            <a:off x="1975104" y="4535424"/>
            <a:ext cx="256032" cy="0"/>
          </a:xfrm>
          <a:prstGeom prst="straightConnector1">
            <a:avLst/>
          </a:prstGeom>
          <a:noFill/>
          <a:ln cap="flat" cmpd="sng" w="15225">
            <a:solidFill>
              <a:srgbClr val="5E6D7C"/>
            </a:solidFill>
            <a:prstDash val="dash"/>
            <a:round/>
            <a:headEnd len="sm" w="sm" type="none"/>
            <a:tailEnd len="med" w="med" type="triangle"/>
          </a:ln>
        </p:spPr>
      </p:cxnSp>
      <p:cxnSp>
        <p:nvCxnSpPr>
          <p:cNvPr id="166" name="Google Shape;166;p4"/>
          <p:cNvCxnSpPr/>
          <p:nvPr/>
        </p:nvCxnSpPr>
        <p:spPr>
          <a:xfrm>
            <a:off x="5449824" y="5065776"/>
            <a:ext cx="0" cy="466344"/>
          </a:xfrm>
          <a:prstGeom prst="straightConnector1">
            <a:avLst/>
          </a:prstGeom>
          <a:noFill/>
          <a:ln cap="flat" cmpd="sng" w="16500">
            <a:solidFill>
              <a:srgbClr val="5E6D7C"/>
            </a:solidFill>
            <a:prstDash val="dash"/>
            <a:round/>
            <a:headEnd len="sm" w="sm" type="none"/>
            <a:tailEnd len="med" w="med" type="triangle"/>
          </a:ln>
        </p:spPr>
      </p:cxnSp>
      <p:cxnSp>
        <p:nvCxnSpPr>
          <p:cNvPr id="167" name="Google Shape;167;p4"/>
          <p:cNvCxnSpPr/>
          <p:nvPr/>
        </p:nvCxnSpPr>
        <p:spPr>
          <a:xfrm flipH="1">
            <a:off x="7205472" y="5065776"/>
            <a:ext cx="804672" cy="466344"/>
          </a:xfrm>
          <a:prstGeom prst="straightConnector1">
            <a:avLst/>
          </a:prstGeom>
          <a:noFill/>
          <a:ln cap="flat" cmpd="sng" w="16500">
            <a:solidFill>
              <a:srgbClr val="5E6D7C"/>
            </a:solidFill>
            <a:prstDash val="dash"/>
            <a:round/>
            <a:headEnd len="sm" w="sm" type="none"/>
            <a:tailEnd len="med" w="med" type="triangle"/>
          </a:ln>
        </p:spPr>
      </p:cxnSp>
      <p:cxnSp>
        <p:nvCxnSpPr>
          <p:cNvPr id="168" name="Google Shape;168;p4"/>
          <p:cNvCxnSpPr/>
          <p:nvPr/>
        </p:nvCxnSpPr>
        <p:spPr>
          <a:xfrm rot="10800000">
            <a:off x="475488" y="2651760"/>
            <a:ext cx="301752" cy="0"/>
          </a:xfrm>
          <a:prstGeom prst="straightConnector1">
            <a:avLst/>
          </a:prstGeom>
          <a:noFill/>
          <a:ln cap="flat" cmpd="sng" w="14600">
            <a:solidFill>
              <a:srgbClr val="5E6D7C"/>
            </a:solidFill>
            <a:prstDash val="dash"/>
            <a:round/>
            <a:headEnd len="sm" w="sm" type="none"/>
            <a:tailEnd len="sm" w="sm" type="none"/>
          </a:ln>
        </p:spPr>
      </p:cxnSp>
      <p:cxnSp>
        <p:nvCxnSpPr>
          <p:cNvPr id="169" name="Google Shape;169;p4"/>
          <p:cNvCxnSpPr/>
          <p:nvPr/>
        </p:nvCxnSpPr>
        <p:spPr>
          <a:xfrm>
            <a:off x="475488" y="2651760"/>
            <a:ext cx="0" cy="3209544"/>
          </a:xfrm>
          <a:prstGeom prst="straightConnector1">
            <a:avLst/>
          </a:prstGeom>
          <a:noFill/>
          <a:ln cap="flat" cmpd="sng" w="14600">
            <a:solidFill>
              <a:srgbClr val="5E6D7C"/>
            </a:solidFill>
            <a:prstDash val="dash"/>
            <a:round/>
            <a:headEnd len="sm" w="sm" type="none"/>
            <a:tailEnd len="sm" w="sm" type="none"/>
          </a:ln>
        </p:spPr>
      </p:cxnSp>
      <p:cxnSp>
        <p:nvCxnSpPr>
          <p:cNvPr id="170" name="Google Shape;170;p4"/>
          <p:cNvCxnSpPr/>
          <p:nvPr/>
        </p:nvCxnSpPr>
        <p:spPr>
          <a:xfrm>
            <a:off x="475488" y="5861304"/>
            <a:ext cx="3749040" cy="0"/>
          </a:xfrm>
          <a:prstGeom prst="straightConnector1">
            <a:avLst/>
          </a:prstGeom>
          <a:noFill/>
          <a:ln cap="flat" cmpd="sng" w="14600">
            <a:solidFill>
              <a:srgbClr val="5E6D7C"/>
            </a:solidFill>
            <a:prstDash val="dash"/>
            <a:round/>
            <a:headEnd len="sm" w="sm" type="none"/>
            <a:tailEnd len="med" w="med" type="triangle"/>
          </a:ln>
        </p:spPr>
      </p:cxnSp>
      <p:cxnSp>
        <p:nvCxnSpPr>
          <p:cNvPr id="171" name="Google Shape;171;p4"/>
          <p:cNvCxnSpPr/>
          <p:nvPr/>
        </p:nvCxnSpPr>
        <p:spPr>
          <a:xfrm>
            <a:off x="11420856" y="2651760"/>
            <a:ext cx="292608" cy="0"/>
          </a:xfrm>
          <a:prstGeom prst="straightConnector1">
            <a:avLst/>
          </a:prstGeom>
          <a:noFill/>
          <a:ln cap="flat" cmpd="sng" w="14600">
            <a:solidFill>
              <a:srgbClr val="5E6D7C"/>
            </a:solidFill>
            <a:prstDash val="dash"/>
            <a:round/>
            <a:headEnd len="sm" w="sm" type="none"/>
            <a:tailEnd len="sm" w="sm" type="none"/>
          </a:ln>
        </p:spPr>
      </p:cxnSp>
      <p:cxnSp>
        <p:nvCxnSpPr>
          <p:cNvPr id="172" name="Google Shape;172;p4"/>
          <p:cNvCxnSpPr/>
          <p:nvPr/>
        </p:nvCxnSpPr>
        <p:spPr>
          <a:xfrm>
            <a:off x="11713464" y="2651760"/>
            <a:ext cx="0" cy="3209544"/>
          </a:xfrm>
          <a:prstGeom prst="straightConnector1">
            <a:avLst/>
          </a:prstGeom>
          <a:noFill/>
          <a:ln cap="flat" cmpd="sng" w="14600">
            <a:solidFill>
              <a:srgbClr val="5E6D7C"/>
            </a:solidFill>
            <a:prstDash val="dash"/>
            <a:round/>
            <a:headEnd len="sm" w="sm" type="none"/>
            <a:tailEnd len="sm" w="sm" type="none"/>
          </a:ln>
        </p:spPr>
      </p:cxnSp>
      <p:cxnSp>
        <p:nvCxnSpPr>
          <p:cNvPr id="173" name="Google Shape;173;p4"/>
          <p:cNvCxnSpPr/>
          <p:nvPr/>
        </p:nvCxnSpPr>
        <p:spPr>
          <a:xfrm rot="10800000">
            <a:off x="7964424" y="5861304"/>
            <a:ext cx="3749040" cy="0"/>
          </a:xfrm>
          <a:prstGeom prst="straightConnector1">
            <a:avLst/>
          </a:prstGeom>
          <a:noFill/>
          <a:ln cap="flat" cmpd="sng" w="14600">
            <a:solidFill>
              <a:srgbClr val="5E6D7C"/>
            </a:solidFill>
            <a:prstDash val="dash"/>
            <a:round/>
            <a:headEnd len="sm" w="sm" type="none"/>
            <a:tailEnd len="med" w="med" type="triangle"/>
          </a:ln>
        </p:spPr>
      </p:cxnSp>
      <p:cxnSp>
        <p:nvCxnSpPr>
          <p:cNvPr id="174" name="Google Shape;174;p4"/>
          <p:cNvCxnSpPr/>
          <p:nvPr/>
        </p:nvCxnSpPr>
        <p:spPr>
          <a:xfrm>
            <a:off x="6108192" y="3127248"/>
            <a:ext cx="0" cy="2404872"/>
          </a:xfrm>
          <a:prstGeom prst="straightConnector1">
            <a:avLst/>
          </a:prstGeom>
          <a:noFill/>
          <a:ln cap="flat" cmpd="sng" w="14600">
            <a:solidFill>
              <a:srgbClr val="5E6D7C"/>
            </a:solidFill>
            <a:prstDash val="dash"/>
            <a:round/>
            <a:headEnd len="sm" w="sm" type="none"/>
            <a:tailEnd len="med" w="med" type="triangle"/>
          </a:ln>
        </p:spPr>
      </p:cxnSp>
      <p:sp>
        <p:nvSpPr>
          <p:cNvPr id="175" name="Google Shape;175;p4"/>
          <p:cNvSpPr/>
          <p:nvPr/>
        </p:nvSpPr>
        <p:spPr>
          <a:xfrm>
            <a:off x="758952" y="5330952"/>
            <a:ext cx="2029968"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200"/>
              <a:buFont typeface="Arial"/>
              <a:buNone/>
            </a:pPr>
            <a:r>
              <a:rPr b="1" i="0" lang="en-US" sz="1200" u="none" cap="none" strike="noStrike">
                <a:solidFill>
                  <a:srgbClr val="267A94"/>
                </a:solidFill>
                <a:latin typeface="Arial"/>
                <a:ea typeface="Arial"/>
                <a:cs typeface="Arial"/>
                <a:sym typeface="Arial"/>
              </a:rPr>
              <a:t>Dependencies / requests</a:t>
            </a:r>
            <a:endParaRPr b="0" i="0" sz="1200" u="none" cap="none" strike="noStrike">
              <a:solidFill>
                <a:schemeClr val="dk1"/>
              </a:solidFill>
              <a:latin typeface="Arial"/>
              <a:ea typeface="Arial"/>
              <a:cs typeface="Arial"/>
              <a:sym typeface="Arial"/>
            </a:endParaRPr>
          </a:p>
        </p:txBody>
      </p:sp>
      <p:sp>
        <p:nvSpPr>
          <p:cNvPr id="176" name="Google Shape;176;p4"/>
          <p:cNvSpPr/>
          <p:nvPr/>
        </p:nvSpPr>
        <p:spPr>
          <a:xfrm>
            <a:off x="777240" y="6172200"/>
            <a:ext cx="10652760" cy="19202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100"/>
              <a:buFont typeface="Arial"/>
              <a:buNone/>
            </a:pPr>
            <a:r>
              <a:rPr b="0" i="0" lang="en-US" sz="1100" u="none" cap="none" strike="noStrike">
                <a:solidFill>
                  <a:srgbClr val="5E6D7C"/>
                </a:solidFill>
                <a:latin typeface="Arial"/>
                <a:ea typeface="Arial"/>
                <a:cs typeface="Arial"/>
                <a:sym typeface="Arial"/>
              </a:rPr>
              <a:t>Solid = uses / requests   ·   Dashed = supporting link to configuration / PTY</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181" name="Shape 181"/>
        <p:cNvGrpSpPr/>
        <p:nvPr/>
      </p:nvGrpSpPr>
      <p:grpSpPr>
        <a:xfrm>
          <a:off x="0" y="0"/>
          <a:ext cx="0" cy="0"/>
          <a:chOff x="0" y="0"/>
          <a:chExt cx="0" cy="0"/>
        </a:xfrm>
      </p:grpSpPr>
      <p:sp>
        <p:nvSpPr>
          <p:cNvPr id="182" name="Google Shape;182;p5"/>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Why these architectural styles?</a:t>
            </a:r>
            <a:endParaRPr b="0" i="0" sz="2800" u="none" cap="none" strike="noStrike">
              <a:solidFill>
                <a:schemeClr val="dk1"/>
              </a:solidFill>
              <a:latin typeface="Arial"/>
              <a:ea typeface="Arial"/>
              <a:cs typeface="Arial"/>
              <a:sym typeface="Arial"/>
            </a:endParaRPr>
          </a:p>
        </p:txBody>
      </p:sp>
      <p:sp>
        <p:nvSpPr>
          <p:cNvPr id="184" name="Google Shape;184;p5"/>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Layered, component, event-driven, pipeline</a:t>
            </a:r>
            <a:endParaRPr b="0" i="0" sz="1300" u="none" cap="none" strike="noStrike">
              <a:solidFill>
                <a:schemeClr val="dk1"/>
              </a:solidFill>
              <a:latin typeface="Arial"/>
              <a:ea typeface="Arial"/>
              <a:cs typeface="Arial"/>
              <a:sym typeface="Arial"/>
            </a:endParaRPr>
          </a:p>
        </p:txBody>
      </p:sp>
      <p:sp>
        <p:nvSpPr>
          <p:cNvPr id="185" name="Google Shape;185;p5"/>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MILES  ·  5/11</a:t>
            </a:r>
            <a:endParaRPr b="0" i="0" sz="1050" u="none" cap="none" strike="noStrike">
              <a:solidFill>
                <a:schemeClr val="dk1"/>
              </a:solidFill>
              <a:latin typeface="Arial"/>
              <a:ea typeface="Arial"/>
              <a:cs typeface="Arial"/>
              <a:sym typeface="Arial"/>
            </a:endParaRPr>
          </a:p>
        </p:txBody>
      </p:sp>
      <p:cxnSp>
        <p:nvCxnSpPr>
          <p:cNvPr id="186" name="Google Shape;186;p5"/>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187" name="Google Shape;187;p5"/>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188" name="Google Shape;188;p5"/>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§3.3</a:t>
            </a:r>
            <a:endParaRPr b="0" i="0" sz="900" u="none" cap="none" strike="noStrike">
              <a:solidFill>
                <a:schemeClr val="dk1"/>
              </a:solidFill>
              <a:latin typeface="Arial"/>
              <a:ea typeface="Arial"/>
              <a:cs typeface="Arial"/>
              <a:sym typeface="Arial"/>
            </a:endParaRPr>
          </a:p>
        </p:txBody>
      </p:sp>
      <p:sp>
        <p:nvSpPr>
          <p:cNvPr id="189" name="Google Shape;189;p5"/>
          <p:cNvSpPr/>
          <p:nvPr/>
        </p:nvSpPr>
        <p:spPr>
          <a:xfrm>
            <a:off x="713232" y="1517904"/>
            <a:ext cx="5449824" cy="1755648"/>
          </a:xfrm>
          <a:prstGeom prst="roundRect">
            <a:avLst>
              <a:gd fmla="val 6250"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713232" y="1517904"/>
            <a:ext cx="5449824" cy="82296"/>
          </a:xfrm>
          <a:prstGeom prst="rect">
            <a:avLst/>
          </a:prstGeom>
          <a:solidFill>
            <a:srgbClr val="C8D5DD"/>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886968" y="1682496"/>
            <a:ext cx="5102352"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Layered</a:t>
            </a:r>
            <a:endParaRPr b="0" i="0" sz="1900" u="none" cap="none" strike="noStrike">
              <a:solidFill>
                <a:schemeClr val="dk1"/>
              </a:solidFill>
              <a:latin typeface="Arial"/>
              <a:ea typeface="Arial"/>
              <a:cs typeface="Arial"/>
              <a:sym typeface="Arial"/>
            </a:endParaRPr>
          </a:p>
        </p:txBody>
      </p:sp>
      <p:sp>
        <p:nvSpPr>
          <p:cNvPr id="192" name="Google Shape;192;p5"/>
          <p:cNvSpPr/>
          <p:nvPr/>
        </p:nvSpPr>
        <p:spPr>
          <a:xfrm>
            <a:off x="886968" y="2130552"/>
            <a:ext cx="5102352" cy="103327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700"/>
              <a:buFont typeface="Arial"/>
              <a:buNone/>
            </a:pPr>
            <a:r>
              <a:rPr b="0" i="0" lang="en-US" sz="1700" u="none" cap="none" strike="noStrike">
                <a:solidFill>
                  <a:srgbClr val="5E6D7C"/>
                </a:solidFill>
                <a:latin typeface="Arial"/>
                <a:ea typeface="Arial"/>
                <a:cs typeface="Arial"/>
                <a:sym typeface="Arial"/>
              </a:rPr>
              <a:t>GUI → Mux → terminal logic</a:t>
            </a:r>
            <a:endParaRPr b="0" i="0" sz="1700" u="none" cap="none" strike="noStrike">
              <a:solidFill>
                <a:schemeClr val="dk1"/>
              </a:solidFill>
              <a:latin typeface="Arial"/>
              <a:ea typeface="Arial"/>
              <a:cs typeface="Arial"/>
              <a:sym typeface="Arial"/>
            </a:endParaRPr>
          </a:p>
        </p:txBody>
      </p:sp>
      <p:sp>
        <p:nvSpPr>
          <p:cNvPr id="193" name="Google Shape;193;p5"/>
          <p:cNvSpPr/>
          <p:nvPr/>
        </p:nvSpPr>
        <p:spPr>
          <a:xfrm>
            <a:off x="896112" y="2798064"/>
            <a:ext cx="4937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390"/>
              <a:buFont typeface="Arial"/>
              <a:buNone/>
            </a:pPr>
            <a:r>
              <a:rPr b="0" i="0" lang="en-US" sz="1390" u="none" cap="none" strike="noStrike">
                <a:solidFill>
                  <a:srgbClr val="267A94"/>
                </a:solidFill>
                <a:latin typeface="Arial"/>
                <a:ea typeface="Arial"/>
                <a:cs typeface="Arial"/>
                <a:sym typeface="Arial"/>
              </a:rPr>
              <a:t>Limits what the GUI needs to know</a:t>
            </a:r>
            <a:endParaRPr b="0" i="0" sz="1390" u="none" cap="none" strike="noStrike">
              <a:solidFill>
                <a:schemeClr val="dk1"/>
              </a:solidFill>
              <a:latin typeface="Arial"/>
              <a:ea typeface="Arial"/>
              <a:cs typeface="Arial"/>
              <a:sym typeface="Arial"/>
            </a:endParaRPr>
          </a:p>
        </p:txBody>
      </p:sp>
      <p:sp>
        <p:nvSpPr>
          <p:cNvPr id="194" name="Google Shape;194;p5"/>
          <p:cNvSpPr/>
          <p:nvPr/>
        </p:nvSpPr>
        <p:spPr>
          <a:xfrm>
            <a:off x="6501384" y="1517904"/>
            <a:ext cx="5449824" cy="1755648"/>
          </a:xfrm>
          <a:prstGeom prst="roundRect">
            <a:avLst>
              <a:gd fmla="val 6250"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6501384" y="1517904"/>
            <a:ext cx="5449824" cy="82296"/>
          </a:xfrm>
          <a:prstGeom prst="rect">
            <a:avLst/>
          </a:prstGeom>
          <a:solidFill>
            <a:srgbClr val="C8D5DD"/>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6675120" y="1682496"/>
            <a:ext cx="5102352"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Component-based</a:t>
            </a:r>
            <a:endParaRPr b="0" i="0" sz="1900" u="none" cap="none" strike="noStrike">
              <a:solidFill>
                <a:schemeClr val="dk1"/>
              </a:solidFill>
              <a:latin typeface="Arial"/>
              <a:ea typeface="Arial"/>
              <a:cs typeface="Arial"/>
              <a:sym typeface="Arial"/>
            </a:endParaRPr>
          </a:p>
        </p:txBody>
      </p:sp>
      <p:sp>
        <p:nvSpPr>
          <p:cNvPr id="197" name="Google Shape;197;p5"/>
          <p:cNvSpPr/>
          <p:nvPr/>
        </p:nvSpPr>
        <p:spPr>
          <a:xfrm>
            <a:off x="6675120" y="2130552"/>
            <a:ext cx="5102352" cy="103327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700"/>
              <a:buFont typeface="Arial"/>
              <a:buNone/>
            </a:pPr>
            <a:r>
              <a:rPr b="0" i="0" lang="en-US" sz="1700" u="none" cap="none" strike="noStrike">
                <a:solidFill>
                  <a:srgbClr val="5E6D7C"/>
                </a:solidFill>
                <a:latin typeface="Arial"/>
                <a:ea typeface="Arial"/>
                <a:cs typeface="Arial"/>
                <a:sym typeface="Arial"/>
              </a:rPr>
              <a:t>Subsystems map to Rust crates</a:t>
            </a:r>
            <a:endParaRPr b="0" i="0" sz="1700" u="none" cap="none" strike="noStrike">
              <a:solidFill>
                <a:schemeClr val="dk1"/>
              </a:solidFill>
              <a:latin typeface="Arial"/>
              <a:ea typeface="Arial"/>
              <a:cs typeface="Arial"/>
              <a:sym typeface="Arial"/>
            </a:endParaRPr>
          </a:p>
        </p:txBody>
      </p:sp>
      <p:sp>
        <p:nvSpPr>
          <p:cNvPr id="198" name="Google Shape;198;p5"/>
          <p:cNvSpPr/>
          <p:nvPr/>
        </p:nvSpPr>
        <p:spPr>
          <a:xfrm>
            <a:off x="6684264" y="2798064"/>
            <a:ext cx="4937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390"/>
              <a:buFont typeface="Arial"/>
              <a:buNone/>
            </a:pPr>
            <a:r>
              <a:rPr b="0" i="0" lang="en-US" sz="1390" u="none" cap="none" strike="noStrike">
                <a:solidFill>
                  <a:srgbClr val="267A94"/>
                </a:solidFill>
                <a:latin typeface="Arial"/>
                <a:ea typeface="Arial"/>
                <a:cs typeface="Arial"/>
                <a:sym typeface="Arial"/>
              </a:rPr>
              <a:t>Separate concerns and testing</a:t>
            </a:r>
            <a:endParaRPr b="0" i="0" sz="1390" u="none" cap="none" strike="noStrike">
              <a:solidFill>
                <a:schemeClr val="dk1"/>
              </a:solidFill>
              <a:latin typeface="Arial"/>
              <a:ea typeface="Arial"/>
              <a:cs typeface="Arial"/>
              <a:sym typeface="Arial"/>
            </a:endParaRPr>
          </a:p>
        </p:txBody>
      </p:sp>
      <p:sp>
        <p:nvSpPr>
          <p:cNvPr id="199" name="Google Shape;199;p5"/>
          <p:cNvSpPr/>
          <p:nvPr/>
        </p:nvSpPr>
        <p:spPr>
          <a:xfrm>
            <a:off x="713232" y="3547872"/>
            <a:ext cx="5449824" cy="1755648"/>
          </a:xfrm>
          <a:prstGeom prst="roundRect">
            <a:avLst>
              <a:gd fmla="val 6250"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713232" y="3547872"/>
            <a:ext cx="5449824" cy="82296"/>
          </a:xfrm>
          <a:prstGeom prst="rect">
            <a:avLst/>
          </a:prstGeom>
          <a:solidFill>
            <a:srgbClr val="267A94"/>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886968" y="3712464"/>
            <a:ext cx="5102352"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Event-driven</a:t>
            </a:r>
            <a:endParaRPr b="0" i="0" sz="1900" u="none" cap="none" strike="noStrike">
              <a:solidFill>
                <a:schemeClr val="dk1"/>
              </a:solidFill>
              <a:latin typeface="Arial"/>
              <a:ea typeface="Arial"/>
              <a:cs typeface="Arial"/>
              <a:sym typeface="Arial"/>
            </a:endParaRPr>
          </a:p>
        </p:txBody>
      </p:sp>
      <p:sp>
        <p:nvSpPr>
          <p:cNvPr id="202" name="Google Shape;202;p5"/>
          <p:cNvSpPr/>
          <p:nvPr/>
        </p:nvSpPr>
        <p:spPr>
          <a:xfrm>
            <a:off x="886968" y="4160520"/>
            <a:ext cx="5102352" cy="103327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700"/>
              <a:buFont typeface="Arial"/>
              <a:buNone/>
            </a:pPr>
            <a:r>
              <a:rPr b="0" i="0" lang="en-US" sz="1700" u="none" cap="none" strike="noStrike">
                <a:solidFill>
                  <a:srgbClr val="5E6D7C"/>
                </a:solidFill>
                <a:latin typeface="Arial"/>
                <a:ea typeface="Arial"/>
                <a:cs typeface="Arial"/>
                <a:sym typeface="Arial"/>
              </a:rPr>
              <a:t>Mux publishes change notifications</a:t>
            </a:r>
            <a:endParaRPr b="0" i="0" sz="1700" u="none" cap="none" strike="noStrike">
              <a:solidFill>
                <a:schemeClr val="dk1"/>
              </a:solidFill>
              <a:latin typeface="Arial"/>
              <a:ea typeface="Arial"/>
              <a:cs typeface="Arial"/>
              <a:sym typeface="Arial"/>
            </a:endParaRPr>
          </a:p>
        </p:txBody>
      </p:sp>
      <p:sp>
        <p:nvSpPr>
          <p:cNvPr id="203" name="Google Shape;203;p5"/>
          <p:cNvSpPr/>
          <p:nvPr/>
        </p:nvSpPr>
        <p:spPr>
          <a:xfrm>
            <a:off x="896112" y="4828032"/>
            <a:ext cx="4937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390"/>
              <a:buFont typeface="Arial"/>
              <a:buNone/>
            </a:pPr>
            <a:r>
              <a:rPr b="0" i="0" lang="en-US" sz="1390" u="none" cap="none" strike="noStrike">
                <a:solidFill>
                  <a:srgbClr val="267A94"/>
                </a:solidFill>
                <a:latin typeface="Arial"/>
                <a:ea typeface="Arial"/>
                <a:cs typeface="Arial"/>
                <a:sym typeface="Arial"/>
              </a:rPr>
              <a:t>GUI does not poll each pane</a:t>
            </a:r>
            <a:endParaRPr b="0" i="0" sz="1390" u="none" cap="none" strike="noStrike">
              <a:solidFill>
                <a:schemeClr val="dk1"/>
              </a:solidFill>
              <a:latin typeface="Arial"/>
              <a:ea typeface="Arial"/>
              <a:cs typeface="Arial"/>
              <a:sym typeface="Arial"/>
            </a:endParaRPr>
          </a:p>
        </p:txBody>
      </p:sp>
      <p:sp>
        <p:nvSpPr>
          <p:cNvPr id="204" name="Google Shape;204;p5"/>
          <p:cNvSpPr/>
          <p:nvPr/>
        </p:nvSpPr>
        <p:spPr>
          <a:xfrm>
            <a:off x="6501384" y="3547872"/>
            <a:ext cx="5449824" cy="1755648"/>
          </a:xfrm>
          <a:prstGeom prst="roundRect">
            <a:avLst>
              <a:gd fmla="val 6250"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6501384" y="3547872"/>
            <a:ext cx="5449824" cy="82296"/>
          </a:xfrm>
          <a:prstGeom prst="rect">
            <a:avLst/>
          </a:prstGeom>
          <a:solidFill>
            <a:srgbClr val="C8D5DD"/>
          </a:solidFill>
          <a:ln cap="flat" cmpd="sng" w="12700">
            <a:solidFill>
              <a:srgbClr val="3333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6675120" y="3712464"/>
            <a:ext cx="5102352"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00"/>
              <a:buFont typeface="Arial"/>
              <a:buNone/>
            </a:pPr>
            <a:r>
              <a:rPr b="1" i="0" lang="en-US" sz="1900" u="none" cap="none" strike="noStrike">
                <a:solidFill>
                  <a:srgbClr val="1A2D42"/>
                </a:solidFill>
                <a:latin typeface="Arial"/>
                <a:ea typeface="Arial"/>
                <a:cs typeface="Arial"/>
                <a:sym typeface="Arial"/>
              </a:rPr>
              <a:t>Pipeline</a:t>
            </a:r>
            <a:endParaRPr b="0" i="0" sz="1900" u="none" cap="none" strike="noStrike">
              <a:solidFill>
                <a:schemeClr val="dk1"/>
              </a:solidFill>
              <a:latin typeface="Arial"/>
              <a:ea typeface="Arial"/>
              <a:cs typeface="Arial"/>
              <a:sym typeface="Arial"/>
            </a:endParaRPr>
          </a:p>
        </p:txBody>
      </p:sp>
      <p:sp>
        <p:nvSpPr>
          <p:cNvPr id="207" name="Google Shape;207;p5"/>
          <p:cNvSpPr/>
          <p:nvPr/>
        </p:nvSpPr>
        <p:spPr>
          <a:xfrm>
            <a:off x="6675120" y="4160520"/>
            <a:ext cx="5102352" cy="103327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700"/>
              <a:buFont typeface="Arial"/>
              <a:buNone/>
            </a:pPr>
            <a:r>
              <a:rPr b="0" i="0" lang="en-US" sz="1700" u="none" cap="none" strike="noStrike">
                <a:solidFill>
                  <a:srgbClr val="5E6D7C"/>
                </a:solidFill>
                <a:latin typeface="Arial"/>
                <a:ea typeface="Arial"/>
                <a:cs typeface="Arial"/>
                <a:sym typeface="Arial"/>
              </a:rPr>
              <a:t>Bytes → screen → glyphs → frame</a:t>
            </a:r>
            <a:endParaRPr b="0" i="0" sz="1700" u="none" cap="none" strike="noStrike">
              <a:solidFill>
                <a:schemeClr val="dk1"/>
              </a:solidFill>
              <a:latin typeface="Arial"/>
              <a:ea typeface="Arial"/>
              <a:cs typeface="Arial"/>
              <a:sym typeface="Arial"/>
            </a:endParaRPr>
          </a:p>
        </p:txBody>
      </p:sp>
      <p:sp>
        <p:nvSpPr>
          <p:cNvPr id="208" name="Google Shape;208;p5"/>
          <p:cNvSpPr/>
          <p:nvPr/>
        </p:nvSpPr>
        <p:spPr>
          <a:xfrm>
            <a:off x="6684264" y="4828032"/>
            <a:ext cx="49377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390"/>
              <a:buFont typeface="Arial"/>
              <a:buNone/>
            </a:pPr>
            <a:r>
              <a:rPr b="0" i="0" lang="en-US" sz="1390" u="none" cap="none" strike="noStrike">
                <a:solidFill>
                  <a:srgbClr val="267A94"/>
                </a:solidFill>
                <a:latin typeface="Arial"/>
                <a:ea typeface="Arial"/>
                <a:cs typeface="Arial"/>
                <a:sym typeface="Arial"/>
              </a:rPr>
              <a:t>Stages can be handled independently</a:t>
            </a:r>
            <a:endParaRPr b="0" i="0" sz="1390" u="none" cap="none" strike="noStrike">
              <a:solidFill>
                <a:schemeClr val="dk1"/>
              </a:solidFill>
              <a:latin typeface="Arial"/>
              <a:ea typeface="Arial"/>
              <a:cs typeface="Arial"/>
              <a:sym typeface="Arial"/>
            </a:endParaRPr>
          </a:p>
        </p:txBody>
      </p:sp>
      <p:sp>
        <p:nvSpPr>
          <p:cNvPr id="209" name="Google Shape;209;p5"/>
          <p:cNvSpPr/>
          <p:nvPr/>
        </p:nvSpPr>
        <p:spPr>
          <a:xfrm>
            <a:off x="758952" y="5715000"/>
            <a:ext cx="10689336" cy="466344"/>
          </a:xfrm>
          <a:prstGeom prst="roundRect">
            <a:avLst>
              <a:gd fmla="val 19608" name="adj"/>
            </a:avLst>
          </a:prstGeom>
          <a:solidFill>
            <a:srgbClr val="EAF4F4"/>
          </a:solidFill>
          <a:ln cap="flat" cmpd="sng" w="12700">
            <a:solidFill>
              <a:srgbClr val="EAF4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978408" y="5788152"/>
            <a:ext cx="10259568"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50"/>
              <a:buFont typeface="Arial"/>
              <a:buNone/>
            </a:pPr>
            <a:r>
              <a:rPr b="1" i="0" lang="en-US" sz="1650" u="none" cap="none" strike="noStrike">
                <a:solidFill>
                  <a:srgbClr val="1A2D42"/>
                </a:solidFill>
                <a:latin typeface="Arial"/>
                <a:ea typeface="Arial"/>
                <a:cs typeface="Arial"/>
                <a:sym typeface="Arial"/>
              </a:rPr>
              <a:t>Key rationale: the Mux mediates sessions; configuration crosses subsystem boundaries.</a:t>
            </a:r>
            <a:endParaRPr b="0" i="0" sz="165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215" name="Shape 215"/>
        <p:cNvGrpSpPr/>
        <p:nvPr/>
      </p:nvGrpSpPr>
      <p:grpSpPr>
        <a:xfrm>
          <a:off x="0" y="0"/>
          <a:ext cx="0" cy="0"/>
          <a:chOff x="0" y="0"/>
          <a:chExt cx="0" cy="0"/>
        </a:xfrm>
      </p:grpSpPr>
      <p:sp>
        <p:nvSpPr>
          <p:cNvPr id="216" name="Google Shape;216;p6"/>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Sequence 1 — Typing a key</a:t>
            </a:r>
            <a:endParaRPr b="0" i="0" sz="2800" u="none" cap="none" strike="noStrike">
              <a:solidFill>
                <a:schemeClr val="dk1"/>
              </a:solidFill>
              <a:latin typeface="Arial"/>
              <a:ea typeface="Arial"/>
              <a:cs typeface="Arial"/>
              <a:sym typeface="Arial"/>
            </a:endParaRPr>
          </a:p>
        </p:txBody>
      </p:sp>
      <p:sp>
        <p:nvSpPr>
          <p:cNvPr id="218" name="Google Shape;218;p6"/>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Input and output are decoupled</a:t>
            </a:r>
            <a:endParaRPr b="0" i="0" sz="1300" u="none" cap="none" strike="noStrike">
              <a:solidFill>
                <a:schemeClr val="dk1"/>
              </a:solidFill>
              <a:latin typeface="Arial"/>
              <a:ea typeface="Arial"/>
              <a:cs typeface="Arial"/>
              <a:sym typeface="Arial"/>
            </a:endParaRPr>
          </a:p>
        </p:txBody>
      </p:sp>
      <p:sp>
        <p:nvSpPr>
          <p:cNvPr id="219" name="Google Shape;219;p6"/>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MILES  ·  6/11</a:t>
            </a:r>
            <a:endParaRPr b="0" i="0" sz="1050" u="none" cap="none" strike="noStrike">
              <a:solidFill>
                <a:schemeClr val="dk1"/>
              </a:solidFill>
              <a:latin typeface="Arial"/>
              <a:ea typeface="Arial"/>
              <a:cs typeface="Arial"/>
              <a:sym typeface="Arial"/>
            </a:endParaRPr>
          </a:p>
        </p:txBody>
      </p:sp>
      <p:cxnSp>
        <p:nvCxnSpPr>
          <p:cNvPr id="220" name="Google Shape;220;p6"/>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221" name="Google Shape;221;p6"/>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222" name="Google Shape;222;p6"/>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Figure 2, §5.1</a:t>
            </a:r>
            <a:endParaRPr b="0" i="0" sz="900" u="none" cap="none" strike="noStrike">
              <a:solidFill>
                <a:schemeClr val="dk1"/>
              </a:solidFill>
              <a:latin typeface="Arial"/>
              <a:ea typeface="Arial"/>
              <a:cs typeface="Arial"/>
              <a:sym typeface="Arial"/>
            </a:endParaRPr>
          </a:p>
        </p:txBody>
      </p:sp>
      <p:sp>
        <p:nvSpPr>
          <p:cNvPr id="223" name="Google Shape;223;p6"/>
          <p:cNvSpPr/>
          <p:nvPr/>
        </p:nvSpPr>
        <p:spPr>
          <a:xfrm>
            <a:off x="64008" y="1490472"/>
            <a:ext cx="1152144" cy="557784"/>
          </a:xfrm>
          <a:prstGeom prst="roundRect">
            <a:avLst>
              <a:gd fmla="val 13115" name="adj"/>
            </a:avLst>
          </a:prstGeom>
          <a:solidFill>
            <a:srgbClr val="F2F6F8"/>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96012"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User / OS</a:t>
            </a:r>
            <a:endParaRPr b="0" i="0" sz="1260" u="none" cap="none" strike="noStrike">
              <a:solidFill>
                <a:schemeClr val="dk1"/>
              </a:solidFill>
              <a:latin typeface="Arial"/>
              <a:ea typeface="Arial"/>
              <a:cs typeface="Arial"/>
              <a:sym typeface="Arial"/>
            </a:endParaRPr>
          </a:p>
        </p:txBody>
      </p:sp>
      <p:cxnSp>
        <p:nvCxnSpPr>
          <p:cNvPr id="225" name="Google Shape;225;p6"/>
          <p:cNvCxnSpPr/>
          <p:nvPr/>
        </p:nvCxnSpPr>
        <p:spPr>
          <a:xfrm>
            <a:off x="640080"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26" name="Google Shape;226;p6"/>
          <p:cNvSpPr/>
          <p:nvPr/>
        </p:nvSpPr>
        <p:spPr>
          <a:xfrm>
            <a:off x="1886712"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1918716"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GUI</a:t>
            </a:r>
            <a:endParaRPr b="0" i="0" sz="1260" u="none" cap="none" strike="noStrike">
              <a:solidFill>
                <a:schemeClr val="dk1"/>
              </a:solidFill>
              <a:latin typeface="Arial"/>
              <a:ea typeface="Arial"/>
              <a:cs typeface="Arial"/>
              <a:sym typeface="Arial"/>
            </a:endParaRPr>
          </a:p>
        </p:txBody>
      </p:sp>
      <p:cxnSp>
        <p:nvCxnSpPr>
          <p:cNvPr id="228" name="Google Shape;228;p6"/>
          <p:cNvCxnSpPr/>
          <p:nvPr/>
        </p:nvCxnSpPr>
        <p:spPr>
          <a:xfrm>
            <a:off x="2462784"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29" name="Google Shape;229;p6"/>
          <p:cNvSpPr/>
          <p:nvPr/>
        </p:nvSpPr>
        <p:spPr>
          <a:xfrm>
            <a:off x="3709416"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3741420"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Config</a:t>
            </a:r>
            <a:endParaRPr b="0" i="0" sz="1260" u="none" cap="none" strike="noStrike">
              <a:solidFill>
                <a:schemeClr val="dk1"/>
              </a:solidFill>
              <a:latin typeface="Arial"/>
              <a:ea typeface="Arial"/>
              <a:cs typeface="Arial"/>
              <a:sym typeface="Arial"/>
            </a:endParaRPr>
          </a:p>
        </p:txBody>
      </p:sp>
      <p:cxnSp>
        <p:nvCxnSpPr>
          <p:cNvPr id="231" name="Google Shape;231;p6"/>
          <p:cNvCxnSpPr/>
          <p:nvPr/>
        </p:nvCxnSpPr>
        <p:spPr>
          <a:xfrm>
            <a:off x="4285488"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32" name="Google Shape;232;p6"/>
          <p:cNvSpPr/>
          <p:nvPr/>
        </p:nvSpPr>
        <p:spPr>
          <a:xfrm>
            <a:off x="5532120"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5564124"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Mux</a:t>
            </a:r>
            <a:endParaRPr b="0" i="0" sz="1260" u="none" cap="none" strike="noStrike">
              <a:solidFill>
                <a:schemeClr val="dk1"/>
              </a:solidFill>
              <a:latin typeface="Arial"/>
              <a:ea typeface="Arial"/>
              <a:cs typeface="Arial"/>
              <a:sym typeface="Arial"/>
            </a:endParaRPr>
          </a:p>
        </p:txBody>
      </p:sp>
      <p:cxnSp>
        <p:nvCxnSpPr>
          <p:cNvPr id="234" name="Google Shape;234;p6"/>
          <p:cNvCxnSpPr/>
          <p:nvPr/>
        </p:nvCxnSpPr>
        <p:spPr>
          <a:xfrm>
            <a:off x="6108192"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35" name="Google Shape;235;p6"/>
          <p:cNvSpPr/>
          <p:nvPr/>
        </p:nvSpPr>
        <p:spPr>
          <a:xfrm>
            <a:off x="7354824"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a:off x="7386828"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Terminal</a:t>
            </a:r>
            <a:endParaRPr b="0" i="0" sz="126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Core</a:t>
            </a:r>
            <a:endParaRPr b="0" i="0" sz="1260" u="none" cap="none" strike="noStrike">
              <a:solidFill>
                <a:schemeClr val="dk1"/>
              </a:solidFill>
              <a:latin typeface="Arial"/>
              <a:ea typeface="Arial"/>
              <a:cs typeface="Arial"/>
              <a:sym typeface="Arial"/>
            </a:endParaRPr>
          </a:p>
        </p:txBody>
      </p:sp>
      <p:cxnSp>
        <p:nvCxnSpPr>
          <p:cNvPr id="237" name="Google Shape;237;p6"/>
          <p:cNvCxnSpPr/>
          <p:nvPr/>
        </p:nvCxnSpPr>
        <p:spPr>
          <a:xfrm>
            <a:off x="7930896"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38" name="Google Shape;238;p6"/>
          <p:cNvSpPr/>
          <p:nvPr/>
        </p:nvSpPr>
        <p:spPr>
          <a:xfrm>
            <a:off x="9177528"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
          <p:cNvSpPr/>
          <p:nvPr/>
        </p:nvSpPr>
        <p:spPr>
          <a:xfrm>
            <a:off x="9209532"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Shell / PTY</a:t>
            </a:r>
            <a:endParaRPr b="0" i="0" sz="1260" u="none" cap="none" strike="noStrike">
              <a:solidFill>
                <a:schemeClr val="dk1"/>
              </a:solidFill>
              <a:latin typeface="Arial"/>
              <a:ea typeface="Arial"/>
              <a:cs typeface="Arial"/>
              <a:sym typeface="Arial"/>
            </a:endParaRPr>
          </a:p>
        </p:txBody>
      </p:sp>
      <p:cxnSp>
        <p:nvCxnSpPr>
          <p:cNvPr id="240" name="Google Shape;240;p6"/>
          <p:cNvCxnSpPr/>
          <p:nvPr/>
        </p:nvCxnSpPr>
        <p:spPr>
          <a:xfrm>
            <a:off x="9753600"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41" name="Google Shape;241;p6"/>
          <p:cNvSpPr/>
          <p:nvPr/>
        </p:nvSpPr>
        <p:spPr>
          <a:xfrm>
            <a:off x="11000232" y="1490472"/>
            <a:ext cx="1152144" cy="557784"/>
          </a:xfrm>
          <a:prstGeom prst="roundRect">
            <a:avLst>
              <a:gd fmla="val 13115" name="adj"/>
            </a:avLst>
          </a:prstGeom>
          <a:solidFill>
            <a:srgbClr val="F2F6F8"/>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a:off x="11032236"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Renderer</a:t>
            </a:r>
            <a:endParaRPr b="0" i="0" sz="1260" u="none" cap="none" strike="noStrike">
              <a:solidFill>
                <a:schemeClr val="dk1"/>
              </a:solidFill>
              <a:latin typeface="Arial"/>
              <a:ea typeface="Arial"/>
              <a:cs typeface="Arial"/>
              <a:sym typeface="Arial"/>
            </a:endParaRPr>
          </a:p>
        </p:txBody>
      </p:sp>
      <p:cxnSp>
        <p:nvCxnSpPr>
          <p:cNvPr id="243" name="Google Shape;243;p6"/>
          <p:cNvCxnSpPr/>
          <p:nvPr/>
        </p:nvCxnSpPr>
        <p:spPr>
          <a:xfrm>
            <a:off x="11576304"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44" name="Google Shape;244;p6"/>
          <p:cNvSpPr/>
          <p:nvPr/>
        </p:nvSpPr>
        <p:spPr>
          <a:xfrm>
            <a:off x="384048" y="2157984"/>
            <a:ext cx="11411712" cy="1664208"/>
          </a:xfrm>
          <a:prstGeom prst="roundRect">
            <a:avLst>
              <a:gd fmla="val 1099" name="adj"/>
            </a:avLst>
          </a:prstGeom>
          <a:solidFill>
            <a:srgbClr val="F2F6F8"/>
          </a:solidFill>
          <a:ln cap="flat" cmpd="sng" w="12700">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6"/>
          <p:cNvSpPr/>
          <p:nvPr/>
        </p:nvSpPr>
        <p:spPr>
          <a:xfrm>
            <a:off x="466344" y="2221992"/>
            <a:ext cx="67665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INPUT</a:t>
            </a:r>
            <a:endParaRPr b="0" i="0" sz="1050" u="none" cap="none" strike="noStrike">
              <a:solidFill>
                <a:schemeClr val="dk1"/>
              </a:solidFill>
              <a:latin typeface="Arial"/>
              <a:ea typeface="Arial"/>
              <a:cs typeface="Arial"/>
              <a:sym typeface="Arial"/>
            </a:endParaRPr>
          </a:p>
        </p:txBody>
      </p:sp>
      <p:cxnSp>
        <p:nvCxnSpPr>
          <p:cNvPr id="246" name="Google Shape;246;p6"/>
          <p:cNvCxnSpPr/>
          <p:nvPr/>
        </p:nvCxnSpPr>
        <p:spPr>
          <a:xfrm>
            <a:off x="722376" y="2532888"/>
            <a:ext cx="1658112" cy="0"/>
          </a:xfrm>
          <a:prstGeom prst="straightConnector1">
            <a:avLst/>
          </a:prstGeom>
          <a:noFill/>
          <a:ln cap="flat" cmpd="sng" w="20950">
            <a:solidFill>
              <a:srgbClr val="243646"/>
            </a:solidFill>
            <a:prstDash val="solid"/>
            <a:round/>
            <a:headEnd len="sm" w="sm" type="none"/>
            <a:tailEnd len="med" w="med" type="triangle"/>
          </a:ln>
        </p:spPr>
      </p:cxnSp>
      <p:sp>
        <p:nvSpPr>
          <p:cNvPr id="247" name="Google Shape;247;p6"/>
          <p:cNvSpPr/>
          <p:nvPr/>
        </p:nvSpPr>
        <p:spPr>
          <a:xfrm>
            <a:off x="667512" y="2295144"/>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key event</a:t>
            </a:r>
            <a:endParaRPr b="0" i="0" sz="1080" u="none" cap="none" strike="noStrike">
              <a:solidFill>
                <a:schemeClr val="dk1"/>
              </a:solidFill>
              <a:latin typeface="Arial"/>
              <a:ea typeface="Arial"/>
              <a:cs typeface="Arial"/>
              <a:sym typeface="Arial"/>
            </a:endParaRPr>
          </a:p>
        </p:txBody>
      </p:sp>
      <p:cxnSp>
        <p:nvCxnSpPr>
          <p:cNvPr id="248" name="Google Shape;248;p6"/>
          <p:cNvCxnSpPr/>
          <p:nvPr/>
        </p:nvCxnSpPr>
        <p:spPr>
          <a:xfrm>
            <a:off x="2545080" y="2816352"/>
            <a:ext cx="1658112" cy="0"/>
          </a:xfrm>
          <a:prstGeom prst="straightConnector1">
            <a:avLst/>
          </a:prstGeom>
          <a:noFill/>
          <a:ln cap="flat" cmpd="sng" w="20950">
            <a:solidFill>
              <a:srgbClr val="243646"/>
            </a:solidFill>
            <a:prstDash val="solid"/>
            <a:round/>
            <a:headEnd len="sm" w="sm" type="none"/>
            <a:tailEnd len="med" w="med" type="triangle"/>
          </a:ln>
        </p:spPr>
      </p:cxnSp>
      <p:sp>
        <p:nvSpPr>
          <p:cNvPr id="249" name="Google Shape;249;p6"/>
          <p:cNvSpPr/>
          <p:nvPr/>
        </p:nvSpPr>
        <p:spPr>
          <a:xfrm>
            <a:off x="2490216" y="2578608"/>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binding?</a:t>
            </a:r>
            <a:endParaRPr b="0" i="0" sz="1080" u="none" cap="none" strike="noStrike">
              <a:solidFill>
                <a:schemeClr val="dk1"/>
              </a:solidFill>
              <a:latin typeface="Arial"/>
              <a:ea typeface="Arial"/>
              <a:cs typeface="Arial"/>
              <a:sym typeface="Arial"/>
            </a:endParaRPr>
          </a:p>
        </p:txBody>
      </p:sp>
      <p:cxnSp>
        <p:nvCxnSpPr>
          <p:cNvPr id="250" name="Google Shape;250;p6"/>
          <p:cNvCxnSpPr/>
          <p:nvPr/>
        </p:nvCxnSpPr>
        <p:spPr>
          <a:xfrm>
            <a:off x="2545080" y="3127248"/>
            <a:ext cx="3480816" cy="0"/>
          </a:xfrm>
          <a:prstGeom prst="straightConnector1">
            <a:avLst/>
          </a:prstGeom>
          <a:noFill/>
          <a:ln cap="flat" cmpd="sng" w="20950">
            <a:solidFill>
              <a:srgbClr val="243646"/>
            </a:solidFill>
            <a:prstDash val="solid"/>
            <a:round/>
            <a:headEnd len="sm" w="sm" type="none"/>
            <a:tailEnd len="med" w="med" type="triangle"/>
          </a:ln>
        </p:spPr>
      </p:cxnSp>
      <p:sp>
        <p:nvSpPr>
          <p:cNvPr id="251" name="Google Shape;251;p6"/>
          <p:cNvSpPr/>
          <p:nvPr/>
        </p:nvSpPr>
        <p:spPr>
          <a:xfrm>
            <a:off x="2490216" y="2889504"/>
            <a:ext cx="3572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active pane</a:t>
            </a:r>
            <a:endParaRPr b="0" i="0" sz="1080" u="none" cap="none" strike="noStrike">
              <a:solidFill>
                <a:schemeClr val="dk1"/>
              </a:solidFill>
              <a:latin typeface="Arial"/>
              <a:ea typeface="Arial"/>
              <a:cs typeface="Arial"/>
              <a:sym typeface="Arial"/>
            </a:endParaRPr>
          </a:p>
        </p:txBody>
      </p:sp>
      <p:cxnSp>
        <p:nvCxnSpPr>
          <p:cNvPr id="252" name="Google Shape;252;p6"/>
          <p:cNvCxnSpPr/>
          <p:nvPr/>
        </p:nvCxnSpPr>
        <p:spPr>
          <a:xfrm>
            <a:off x="6190488" y="3410712"/>
            <a:ext cx="1658112" cy="0"/>
          </a:xfrm>
          <a:prstGeom prst="straightConnector1">
            <a:avLst/>
          </a:prstGeom>
          <a:noFill/>
          <a:ln cap="flat" cmpd="sng" w="20950">
            <a:solidFill>
              <a:srgbClr val="243646"/>
            </a:solidFill>
            <a:prstDash val="solid"/>
            <a:round/>
            <a:headEnd len="sm" w="sm" type="none"/>
            <a:tailEnd len="med" w="med" type="triangle"/>
          </a:ln>
        </p:spPr>
      </p:cxnSp>
      <p:sp>
        <p:nvSpPr>
          <p:cNvPr id="253" name="Google Shape;253;p6"/>
          <p:cNvSpPr/>
          <p:nvPr/>
        </p:nvSpPr>
        <p:spPr>
          <a:xfrm>
            <a:off x="6135624" y="3172968"/>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encode</a:t>
            </a:r>
            <a:endParaRPr b="0" i="0" sz="1080" u="none" cap="none" strike="noStrike">
              <a:solidFill>
                <a:schemeClr val="dk1"/>
              </a:solidFill>
              <a:latin typeface="Arial"/>
              <a:ea typeface="Arial"/>
              <a:cs typeface="Arial"/>
              <a:sym typeface="Arial"/>
            </a:endParaRPr>
          </a:p>
        </p:txBody>
      </p:sp>
      <p:cxnSp>
        <p:nvCxnSpPr>
          <p:cNvPr id="254" name="Google Shape;254;p6"/>
          <p:cNvCxnSpPr/>
          <p:nvPr/>
        </p:nvCxnSpPr>
        <p:spPr>
          <a:xfrm>
            <a:off x="8013192" y="3703320"/>
            <a:ext cx="1658112" cy="0"/>
          </a:xfrm>
          <a:prstGeom prst="straightConnector1">
            <a:avLst/>
          </a:prstGeom>
          <a:noFill/>
          <a:ln cap="flat" cmpd="sng" w="20950">
            <a:solidFill>
              <a:srgbClr val="243646"/>
            </a:solidFill>
            <a:prstDash val="solid"/>
            <a:round/>
            <a:headEnd len="sm" w="sm" type="none"/>
            <a:tailEnd len="med" w="med" type="triangle"/>
          </a:ln>
        </p:spPr>
      </p:cxnSp>
      <p:sp>
        <p:nvSpPr>
          <p:cNvPr id="255" name="Google Shape;255;p6"/>
          <p:cNvSpPr/>
          <p:nvPr/>
        </p:nvSpPr>
        <p:spPr>
          <a:xfrm>
            <a:off x="7958328" y="3465576"/>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key bytes</a:t>
            </a:r>
            <a:endParaRPr b="0" i="0" sz="1080" u="none" cap="none" strike="noStrike">
              <a:solidFill>
                <a:schemeClr val="dk1"/>
              </a:solidFill>
              <a:latin typeface="Arial"/>
              <a:ea typeface="Arial"/>
              <a:cs typeface="Arial"/>
              <a:sym typeface="Arial"/>
            </a:endParaRPr>
          </a:p>
        </p:txBody>
      </p:sp>
      <p:sp>
        <p:nvSpPr>
          <p:cNvPr id="256" name="Google Shape;256;p6"/>
          <p:cNvSpPr/>
          <p:nvPr/>
        </p:nvSpPr>
        <p:spPr>
          <a:xfrm>
            <a:off x="384048" y="3913632"/>
            <a:ext cx="11411712" cy="1847088"/>
          </a:xfrm>
          <a:prstGeom prst="roundRect">
            <a:avLst>
              <a:gd fmla="val 990" name="adj"/>
            </a:avLst>
          </a:prstGeom>
          <a:solidFill>
            <a:srgbClr val="EAF4F4"/>
          </a:solidFill>
          <a:ln cap="flat" cmpd="sng" w="12700">
            <a:solidFill>
              <a:srgbClr val="EAF4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a:off x="466344" y="3986784"/>
            <a:ext cx="704088"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OUTPUT</a:t>
            </a:r>
            <a:endParaRPr b="0" i="0" sz="1050" u="none" cap="none" strike="noStrike">
              <a:solidFill>
                <a:schemeClr val="dk1"/>
              </a:solidFill>
              <a:latin typeface="Arial"/>
              <a:ea typeface="Arial"/>
              <a:cs typeface="Arial"/>
              <a:sym typeface="Arial"/>
            </a:endParaRPr>
          </a:p>
        </p:txBody>
      </p:sp>
      <p:cxnSp>
        <p:nvCxnSpPr>
          <p:cNvPr id="258" name="Google Shape;258;p6"/>
          <p:cNvCxnSpPr/>
          <p:nvPr/>
        </p:nvCxnSpPr>
        <p:spPr>
          <a:xfrm rot="10800000">
            <a:off x="8013192" y="4379976"/>
            <a:ext cx="1658112" cy="0"/>
          </a:xfrm>
          <a:prstGeom prst="straightConnector1">
            <a:avLst/>
          </a:prstGeom>
          <a:noFill/>
          <a:ln cap="flat" cmpd="sng" w="18400">
            <a:solidFill>
              <a:srgbClr val="267A94"/>
            </a:solidFill>
            <a:prstDash val="dash"/>
            <a:round/>
            <a:headEnd len="sm" w="sm" type="none"/>
            <a:tailEnd len="med" w="med" type="triangle"/>
          </a:ln>
        </p:spPr>
      </p:cxnSp>
      <p:sp>
        <p:nvSpPr>
          <p:cNvPr id="259" name="Google Shape;259;p6"/>
          <p:cNvSpPr/>
          <p:nvPr/>
        </p:nvSpPr>
        <p:spPr>
          <a:xfrm>
            <a:off x="7958328" y="4142232"/>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080"/>
              <a:buFont typeface="Arial"/>
              <a:buNone/>
            </a:pPr>
            <a:r>
              <a:rPr b="1" i="0" lang="en-US" sz="1080" u="none" cap="none" strike="noStrike">
                <a:solidFill>
                  <a:srgbClr val="267A94"/>
                </a:solidFill>
                <a:latin typeface="Arial"/>
                <a:ea typeface="Arial"/>
                <a:cs typeface="Arial"/>
                <a:sym typeface="Arial"/>
              </a:rPr>
              <a:t>output bytes</a:t>
            </a:r>
            <a:endParaRPr b="0" i="0" sz="1080" u="none" cap="none" strike="noStrike">
              <a:solidFill>
                <a:schemeClr val="dk1"/>
              </a:solidFill>
              <a:latin typeface="Arial"/>
              <a:ea typeface="Arial"/>
              <a:cs typeface="Arial"/>
              <a:sym typeface="Arial"/>
            </a:endParaRPr>
          </a:p>
        </p:txBody>
      </p:sp>
      <p:cxnSp>
        <p:nvCxnSpPr>
          <p:cNvPr id="260" name="Google Shape;260;p6"/>
          <p:cNvCxnSpPr/>
          <p:nvPr/>
        </p:nvCxnSpPr>
        <p:spPr>
          <a:xfrm rot="10800000">
            <a:off x="6190488" y="4672584"/>
            <a:ext cx="1658112" cy="0"/>
          </a:xfrm>
          <a:prstGeom prst="straightConnector1">
            <a:avLst/>
          </a:prstGeom>
          <a:noFill/>
          <a:ln cap="flat" cmpd="sng" w="18400">
            <a:solidFill>
              <a:srgbClr val="267A94"/>
            </a:solidFill>
            <a:prstDash val="dash"/>
            <a:round/>
            <a:headEnd len="sm" w="sm" type="none"/>
            <a:tailEnd len="med" w="med" type="triangle"/>
          </a:ln>
        </p:spPr>
      </p:cxnSp>
      <p:sp>
        <p:nvSpPr>
          <p:cNvPr id="261" name="Google Shape;261;p6"/>
          <p:cNvSpPr/>
          <p:nvPr/>
        </p:nvSpPr>
        <p:spPr>
          <a:xfrm>
            <a:off x="6135624" y="4434840"/>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080"/>
              <a:buFont typeface="Arial"/>
              <a:buNone/>
            </a:pPr>
            <a:r>
              <a:rPr b="1" i="0" lang="en-US" sz="1080" u="none" cap="none" strike="noStrike">
                <a:solidFill>
                  <a:srgbClr val="267A94"/>
                </a:solidFill>
                <a:latin typeface="Arial"/>
                <a:ea typeface="Arial"/>
                <a:cs typeface="Arial"/>
                <a:sym typeface="Arial"/>
              </a:rPr>
              <a:t>screen update</a:t>
            </a:r>
            <a:endParaRPr b="0" i="0" sz="1080" u="none" cap="none" strike="noStrike">
              <a:solidFill>
                <a:schemeClr val="dk1"/>
              </a:solidFill>
              <a:latin typeface="Arial"/>
              <a:ea typeface="Arial"/>
              <a:cs typeface="Arial"/>
              <a:sym typeface="Arial"/>
            </a:endParaRPr>
          </a:p>
        </p:txBody>
      </p:sp>
      <p:cxnSp>
        <p:nvCxnSpPr>
          <p:cNvPr id="262" name="Google Shape;262;p6"/>
          <p:cNvCxnSpPr/>
          <p:nvPr/>
        </p:nvCxnSpPr>
        <p:spPr>
          <a:xfrm rot="10800000">
            <a:off x="2545080" y="5001768"/>
            <a:ext cx="3480816" cy="0"/>
          </a:xfrm>
          <a:prstGeom prst="straightConnector1">
            <a:avLst/>
          </a:prstGeom>
          <a:noFill/>
          <a:ln cap="flat" cmpd="sng" w="18400">
            <a:solidFill>
              <a:srgbClr val="267A94"/>
            </a:solidFill>
            <a:prstDash val="dash"/>
            <a:round/>
            <a:headEnd len="sm" w="sm" type="none"/>
            <a:tailEnd len="med" w="med" type="triangle"/>
          </a:ln>
        </p:spPr>
      </p:cxnSp>
      <p:sp>
        <p:nvSpPr>
          <p:cNvPr id="263" name="Google Shape;263;p6"/>
          <p:cNvSpPr/>
          <p:nvPr/>
        </p:nvSpPr>
        <p:spPr>
          <a:xfrm>
            <a:off x="2490216" y="4764024"/>
            <a:ext cx="3572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080"/>
              <a:buFont typeface="Arial"/>
              <a:buNone/>
            </a:pPr>
            <a:r>
              <a:rPr b="1" i="0" lang="en-US" sz="1080" u="none" cap="none" strike="noStrike">
                <a:solidFill>
                  <a:srgbClr val="267A94"/>
                </a:solidFill>
                <a:latin typeface="Arial"/>
                <a:ea typeface="Arial"/>
                <a:cs typeface="Arial"/>
                <a:sym typeface="Arial"/>
              </a:rPr>
              <a:t>pane changed</a:t>
            </a:r>
            <a:endParaRPr b="0" i="0" sz="1080" u="none" cap="none" strike="noStrike">
              <a:solidFill>
                <a:schemeClr val="dk1"/>
              </a:solidFill>
              <a:latin typeface="Arial"/>
              <a:ea typeface="Arial"/>
              <a:cs typeface="Arial"/>
              <a:sym typeface="Arial"/>
            </a:endParaRPr>
          </a:p>
        </p:txBody>
      </p:sp>
      <p:cxnSp>
        <p:nvCxnSpPr>
          <p:cNvPr id="264" name="Google Shape;264;p6"/>
          <p:cNvCxnSpPr/>
          <p:nvPr/>
        </p:nvCxnSpPr>
        <p:spPr>
          <a:xfrm>
            <a:off x="2545080" y="5376672"/>
            <a:ext cx="8948928" cy="0"/>
          </a:xfrm>
          <a:prstGeom prst="straightConnector1">
            <a:avLst/>
          </a:prstGeom>
          <a:noFill/>
          <a:ln cap="flat" cmpd="sng" w="20950">
            <a:solidFill>
              <a:srgbClr val="243646"/>
            </a:solidFill>
            <a:prstDash val="solid"/>
            <a:round/>
            <a:headEnd len="sm" w="sm" type="none"/>
            <a:tailEnd len="med" w="med" type="triangle"/>
          </a:ln>
        </p:spPr>
      </p:cxnSp>
      <p:sp>
        <p:nvSpPr>
          <p:cNvPr id="265" name="Google Shape;265;p6"/>
          <p:cNvSpPr/>
          <p:nvPr/>
        </p:nvSpPr>
        <p:spPr>
          <a:xfrm>
            <a:off x="2490216" y="5138928"/>
            <a:ext cx="9040368"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paint request</a:t>
            </a:r>
            <a:endParaRPr b="0" i="0" sz="1080" u="none" cap="none" strike="noStrike">
              <a:solidFill>
                <a:schemeClr val="dk1"/>
              </a:solidFill>
              <a:latin typeface="Arial"/>
              <a:ea typeface="Arial"/>
              <a:cs typeface="Arial"/>
              <a:sym typeface="Arial"/>
            </a:endParaRPr>
          </a:p>
        </p:txBody>
      </p:sp>
      <p:sp>
        <p:nvSpPr>
          <p:cNvPr id="266" name="Google Shape;266;p6"/>
          <p:cNvSpPr/>
          <p:nvPr/>
        </p:nvSpPr>
        <p:spPr>
          <a:xfrm>
            <a:off x="758952" y="6044184"/>
            <a:ext cx="10643616"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Solid arrows = request / data   ·   Dashed arrows = asynchronous return / notification</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271" name="Shape 271"/>
        <p:cNvGrpSpPr/>
        <p:nvPr/>
      </p:nvGrpSpPr>
      <p:grpSpPr>
        <a:xfrm>
          <a:off x="0" y="0"/>
          <a:ext cx="0" cy="0"/>
          <a:chOff x="0" y="0"/>
          <a:chExt cx="0" cy="0"/>
        </a:xfrm>
      </p:grpSpPr>
      <p:sp>
        <p:nvSpPr>
          <p:cNvPr id="272" name="Google Shape;272;p7"/>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Sequence 2 — Opening a new tab</a:t>
            </a:r>
            <a:endParaRPr b="0" i="0" sz="2800" u="none" cap="none" strike="noStrike">
              <a:solidFill>
                <a:schemeClr val="dk1"/>
              </a:solidFill>
              <a:latin typeface="Arial"/>
              <a:ea typeface="Arial"/>
              <a:cs typeface="Arial"/>
              <a:sym typeface="Arial"/>
            </a:endParaRPr>
          </a:p>
        </p:txBody>
      </p:sp>
      <p:sp>
        <p:nvSpPr>
          <p:cNvPr id="274" name="Google Shape;274;p7"/>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Creation through a domain</a:t>
            </a:r>
            <a:endParaRPr b="0" i="0" sz="1300" u="none" cap="none" strike="noStrike">
              <a:solidFill>
                <a:schemeClr val="dk1"/>
              </a:solidFill>
              <a:latin typeface="Arial"/>
              <a:ea typeface="Arial"/>
              <a:cs typeface="Arial"/>
              <a:sym typeface="Arial"/>
            </a:endParaRPr>
          </a:p>
        </p:txBody>
      </p:sp>
      <p:sp>
        <p:nvSpPr>
          <p:cNvPr id="275" name="Google Shape;275;p7"/>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ERIC  ·  7/11</a:t>
            </a:r>
            <a:endParaRPr b="0" i="0" sz="1050" u="none" cap="none" strike="noStrike">
              <a:solidFill>
                <a:schemeClr val="dk1"/>
              </a:solidFill>
              <a:latin typeface="Arial"/>
              <a:ea typeface="Arial"/>
              <a:cs typeface="Arial"/>
              <a:sym typeface="Arial"/>
            </a:endParaRPr>
          </a:p>
        </p:txBody>
      </p:sp>
      <p:cxnSp>
        <p:nvCxnSpPr>
          <p:cNvPr id="276" name="Google Shape;276;p7"/>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277" name="Google Shape;277;p7"/>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278" name="Google Shape;278;p7"/>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Figure 3, §5.2</a:t>
            </a:r>
            <a:endParaRPr b="0" i="0" sz="900" u="none" cap="none" strike="noStrike">
              <a:solidFill>
                <a:schemeClr val="dk1"/>
              </a:solidFill>
              <a:latin typeface="Arial"/>
              <a:ea typeface="Arial"/>
              <a:cs typeface="Arial"/>
              <a:sym typeface="Arial"/>
            </a:endParaRPr>
          </a:p>
        </p:txBody>
      </p:sp>
      <p:sp>
        <p:nvSpPr>
          <p:cNvPr id="279" name="Google Shape;279;p7"/>
          <p:cNvSpPr/>
          <p:nvPr/>
        </p:nvSpPr>
        <p:spPr>
          <a:xfrm>
            <a:off x="64008" y="1490472"/>
            <a:ext cx="1152144" cy="557784"/>
          </a:xfrm>
          <a:prstGeom prst="roundRect">
            <a:avLst>
              <a:gd fmla="val 13115" name="adj"/>
            </a:avLst>
          </a:prstGeom>
          <a:solidFill>
            <a:srgbClr val="F2F6F8"/>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96012"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User</a:t>
            </a:r>
            <a:endParaRPr b="0" i="0" sz="1260" u="none" cap="none" strike="noStrike">
              <a:solidFill>
                <a:schemeClr val="dk1"/>
              </a:solidFill>
              <a:latin typeface="Arial"/>
              <a:ea typeface="Arial"/>
              <a:cs typeface="Arial"/>
              <a:sym typeface="Arial"/>
            </a:endParaRPr>
          </a:p>
        </p:txBody>
      </p:sp>
      <p:cxnSp>
        <p:nvCxnSpPr>
          <p:cNvPr id="281" name="Google Shape;281;p7"/>
          <p:cNvCxnSpPr/>
          <p:nvPr/>
        </p:nvCxnSpPr>
        <p:spPr>
          <a:xfrm>
            <a:off x="640080"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82" name="Google Shape;282;p7"/>
          <p:cNvSpPr/>
          <p:nvPr/>
        </p:nvSpPr>
        <p:spPr>
          <a:xfrm>
            <a:off x="1886712"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1918716"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GUI</a:t>
            </a:r>
            <a:endParaRPr b="0" i="0" sz="1260" u="none" cap="none" strike="noStrike">
              <a:solidFill>
                <a:schemeClr val="dk1"/>
              </a:solidFill>
              <a:latin typeface="Arial"/>
              <a:ea typeface="Arial"/>
              <a:cs typeface="Arial"/>
              <a:sym typeface="Arial"/>
            </a:endParaRPr>
          </a:p>
        </p:txBody>
      </p:sp>
      <p:cxnSp>
        <p:nvCxnSpPr>
          <p:cNvPr id="284" name="Google Shape;284;p7"/>
          <p:cNvCxnSpPr/>
          <p:nvPr/>
        </p:nvCxnSpPr>
        <p:spPr>
          <a:xfrm>
            <a:off x="2462784"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85" name="Google Shape;285;p7"/>
          <p:cNvSpPr/>
          <p:nvPr/>
        </p:nvSpPr>
        <p:spPr>
          <a:xfrm>
            <a:off x="3709416"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3741420"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Config</a:t>
            </a:r>
            <a:endParaRPr b="0" i="0" sz="1260" u="none" cap="none" strike="noStrike">
              <a:solidFill>
                <a:schemeClr val="dk1"/>
              </a:solidFill>
              <a:latin typeface="Arial"/>
              <a:ea typeface="Arial"/>
              <a:cs typeface="Arial"/>
              <a:sym typeface="Arial"/>
            </a:endParaRPr>
          </a:p>
        </p:txBody>
      </p:sp>
      <p:cxnSp>
        <p:nvCxnSpPr>
          <p:cNvPr id="287" name="Google Shape;287;p7"/>
          <p:cNvCxnSpPr/>
          <p:nvPr/>
        </p:nvCxnSpPr>
        <p:spPr>
          <a:xfrm>
            <a:off x="4285488"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88" name="Google Shape;288;p7"/>
          <p:cNvSpPr/>
          <p:nvPr/>
        </p:nvSpPr>
        <p:spPr>
          <a:xfrm>
            <a:off x="5532120"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5564124"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Mux</a:t>
            </a:r>
            <a:endParaRPr b="0" i="0" sz="1260" u="none" cap="none" strike="noStrike">
              <a:solidFill>
                <a:schemeClr val="dk1"/>
              </a:solidFill>
              <a:latin typeface="Arial"/>
              <a:ea typeface="Arial"/>
              <a:cs typeface="Arial"/>
              <a:sym typeface="Arial"/>
            </a:endParaRPr>
          </a:p>
        </p:txBody>
      </p:sp>
      <p:cxnSp>
        <p:nvCxnSpPr>
          <p:cNvPr id="290" name="Google Shape;290;p7"/>
          <p:cNvCxnSpPr/>
          <p:nvPr/>
        </p:nvCxnSpPr>
        <p:spPr>
          <a:xfrm>
            <a:off x="6108192"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91" name="Google Shape;291;p7"/>
          <p:cNvSpPr/>
          <p:nvPr/>
        </p:nvSpPr>
        <p:spPr>
          <a:xfrm>
            <a:off x="7354824"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7386828"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Domain</a:t>
            </a:r>
            <a:endParaRPr b="0" i="0" sz="1260" u="none" cap="none" strike="noStrike">
              <a:solidFill>
                <a:schemeClr val="dk1"/>
              </a:solidFill>
              <a:latin typeface="Arial"/>
              <a:ea typeface="Arial"/>
              <a:cs typeface="Arial"/>
              <a:sym typeface="Arial"/>
            </a:endParaRPr>
          </a:p>
        </p:txBody>
      </p:sp>
      <p:cxnSp>
        <p:nvCxnSpPr>
          <p:cNvPr id="293" name="Google Shape;293;p7"/>
          <p:cNvCxnSpPr/>
          <p:nvPr/>
        </p:nvCxnSpPr>
        <p:spPr>
          <a:xfrm>
            <a:off x="7930896"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94" name="Google Shape;294;p7"/>
          <p:cNvSpPr/>
          <p:nvPr/>
        </p:nvSpPr>
        <p:spPr>
          <a:xfrm>
            <a:off x="9177528" y="1490472"/>
            <a:ext cx="1152144" cy="557784"/>
          </a:xfrm>
          <a:prstGeom prst="roundRect">
            <a:avLst>
              <a:gd fmla="val 13115" name="adj"/>
            </a:avLst>
          </a:prstGeom>
          <a:solidFill>
            <a:srgbClr val="DDEFF2"/>
          </a:solidFill>
          <a:ln cap="flat" cmpd="sng" w="9525">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9209532"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Terminal</a:t>
            </a:r>
            <a:endParaRPr b="0" i="0" sz="126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Core</a:t>
            </a:r>
            <a:endParaRPr b="0" i="0" sz="1260" u="none" cap="none" strike="noStrike">
              <a:solidFill>
                <a:schemeClr val="dk1"/>
              </a:solidFill>
              <a:latin typeface="Arial"/>
              <a:ea typeface="Arial"/>
              <a:cs typeface="Arial"/>
              <a:sym typeface="Arial"/>
            </a:endParaRPr>
          </a:p>
        </p:txBody>
      </p:sp>
      <p:cxnSp>
        <p:nvCxnSpPr>
          <p:cNvPr id="296" name="Google Shape;296;p7"/>
          <p:cNvCxnSpPr/>
          <p:nvPr/>
        </p:nvCxnSpPr>
        <p:spPr>
          <a:xfrm>
            <a:off x="9753600" y="2048256"/>
            <a:ext cx="0" cy="3721608"/>
          </a:xfrm>
          <a:prstGeom prst="straightConnector1">
            <a:avLst/>
          </a:prstGeom>
          <a:noFill/>
          <a:ln cap="flat" cmpd="sng" w="13325">
            <a:solidFill>
              <a:srgbClr val="C8D5DD"/>
            </a:solidFill>
            <a:prstDash val="dash"/>
            <a:round/>
            <a:headEnd len="sm" w="sm" type="none"/>
            <a:tailEnd len="sm" w="sm" type="none"/>
          </a:ln>
        </p:spPr>
      </p:cxnSp>
      <p:sp>
        <p:nvSpPr>
          <p:cNvPr id="297" name="Google Shape;297;p7"/>
          <p:cNvSpPr/>
          <p:nvPr/>
        </p:nvSpPr>
        <p:spPr>
          <a:xfrm>
            <a:off x="11000232" y="1490472"/>
            <a:ext cx="1152144" cy="557784"/>
          </a:xfrm>
          <a:prstGeom prst="roundRect">
            <a:avLst>
              <a:gd fmla="val 13115" name="adj"/>
            </a:avLst>
          </a:prstGeom>
          <a:solidFill>
            <a:srgbClr val="F2F6F8"/>
          </a:solidFill>
          <a:ln cap="flat" cmpd="sng" w="9525">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11032236" y="1554480"/>
            <a:ext cx="1088136"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260"/>
              <a:buFont typeface="Arial"/>
              <a:buNone/>
            </a:pPr>
            <a:r>
              <a:rPr b="1" i="0" lang="en-US" sz="1260" u="none" cap="none" strike="noStrike">
                <a:solidFill>
                  <a:srgbClr val="1A2D42"/>
                </a:solidFill>
                <a:latin typeface="Arial"/>
                <a:ea typeface="Arial"/>
                <a:cs typeface="Arial"/>
                <a:sym typeface="Arial"/>
              </a:rPr>
              <a:t>Renderer</a:t>
            </a:r>
            <a:endParaRPr b="0" i="0" sz="1260" u="none" cap="none" strike="noStrike">
              <a:solidFill>
                <a:schemeClr val="dk1"/>
              </a:solidFill>
              <a:latin typeface="Arial"/>
              <a:ea typeface="Arial"/>
              <a:cs typeface="Arial"/>
              <a:sym typeface="Arial"/>
            </a:endParaRPr>
          </a:p>
        </p:txBody>
      </p:sp>
      <p:cxnSp>
        <p:nvCxnSpPr>
          <p:cNvPr id="299" name="Google Shape;299;p7"/>
          <p:cNvCxnSpPr/>
          <p:nvPr/>
        </p:nvCxnSpPr>
        <p:spPr>
          <a:xfrm>
            <a:off x="11576304" y="2048256"/>
            <a:ext cx="0" cy="3721608"/>
          </a:xfrm>
          <a:prstGeom prst="straightConnector1">
            <a:avLst/>
          </a:prstGeom>
          <a:noFill/>
          <a:ln cap="flat" cmpd="sng" w="13325">
            <a:solidFill>
              <a:srgbClr val="C8D5DD"/>
            </a:solidFill>
            <a:prstDash val="dash"/>
            <a:round/>
            <a:headEnd len="sm" w="sm" type="none"/>
            <a:tailEnd len="sm" w="sm" type="none"/>
          </a:ln>
        </p:spPr>
      </p:cxnSp>
      <p:cxnSp>
        <p:nvCxnSpPr>
          <p:cNvPr id="300" name="Google Shape;300;p7"/>
          <p:cNvCxnSpPr/>
          <p:nvPr/>
        </p:nvCxnSpPr>
        <p:spPr>
          <a:xfrm>
            <a:off x="722376" y="2441448"/>
            <a:ext cx="1658112" cy="0"/>
          </a:xfrm>
          <a:prstGeom prst="straightConnector1">
            <a:avLst/>
          </a:prstGeom>
          <a:noFill/>
          <a:ln cap="flat" cmpd="sng" w="20950">
            <a:solidFill>
              <a:srgbClr val="243646"/>
            </a:solidFill>
            <a:prstDash val="solid"/>
            <a:round/>
            <a:headEnd len="sm" w="sm" type="none"/>
            <a:tailEnd len="med" w="med" type="triangle"/>
          </a:ln>
        </p:spPr>
      </p:cxnSp>
      <p:sp>
        <p:nvSpPr>
          <p:cNvPr id="301" name="Google Shape;301;p7"/>
          <p:cNvSpPr/>
          <p:nvPr/>
        </p:nvSpPr>
        <p:spPr>
          <a:xfrm>
            <a:off x="667512" y="2203704"/>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spawn tab</a:t>
            </a:r>
            <a:endParaRPr b="0" i="0" sz="1080" u="none" cap="none" strike="noStrike">
              <a:solidFill>
                <a:schemeClr val="dk1"/>
              </a:solidFill>
              <a:latin typeface="Arial"/>
              <a:ea typeface="Arial"/>
              <a:cs typeface="Arial"/>
              <a:sym typeface="Arial"/>
            </a:endParaRPr>
          </a:p>
        </p:txBody>
      </p:sp>
      <p:cxnSp>
        <p:nvCxnSpPr>
          <p:cNvPr id="302" name="Google Shape;302;p7"/>
          <p:cNvCxnSpPr/>
          <p:nvPr/>
        </p:nvCxnSpPr>
        <p:spPr>
          <a:xfrm>
            <a:off x="2545080" y="2779776"/>
            <a:ext cx="1658112" cy="0"/>
          </a:xfrm>
          <a:prstGeom prst="straightConnector1">
            <a:avLst/>
          </a:prstGeom>
          <a:noFill/>
          <a:ln cap="flat" cmpd="sng" w="20950">
            <a:solidFill>
              <a:srgbClr val="243646"/>
            </a:solidFill>
            <a:prstDash val="solid"/>
            <a:round/>
            <a:headEnd len="sm" w="sm" type="none"/>
            <a:tailEnd len="med" w="med" type="triangle"/>
          </a:ln>
        </p:spPr>
      </p:cxnSp>
      <p:sp>
        <p:nvSpPr>
          <p:cNvPr id="303" name="Google Shape;303;p7"/>
          <p:cNvSpPr/>
          <p:nvPr/>
        </p:nvSpPr>
        <p:spPr>
          <a:xfrm>
            <a:off x="2490216" y="2542032"/>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key binding</a:t>
            </a:r>
            <a:endParaRPr b="0" i="0" sz="1080" u="none" cap="none" strike="noStrike">
              <a:solidFill>
                <a:schemeClr val="dk1"/>
              </a:solidFill>
              <a:latin typeface="Arial"/>
              <a:ea typeface="Arial"/>
              <a:cs typeface="Arial"/>
              <a:sym typeface="Arial"/>
            </a:endParaRPr>
          </a:p>
        </p:txBody>
      </p:sp>
      <p:cxnSp>
        <p:nvCxnSpPr>
          <p:cNvPr id="304" name="Google Shape;304;p7"/>
          <p:cNvCxnSpPr/>
          <p:nvPr/>
        </p:nvCxnSpPr>
        <p:spPr>
          <a:xfrm>
            <a:off x="2545080" y="3118104"/>
            <a:ext cx="3480816" cy="0"/>
          </a:xfrm>
          <a:prstGeom prst="straightConnector1">
            <a:avLst/>
          </a:prstGeom>
          <a:noFill/>
          <a:ln cap="flat" cmpd="sng" w="20950">
            <a:solidFill>
              <a:srgbClr val="243646"/>
            </a:solidFill>
            <a:prstDash val="solid"/>
            <a:round/>
            <a:headEnd len="sm" w="sm" type="none"/>
            <a:tailEnd len="med" w="med" type="triangle"/>
          </a:ln>
        </p:spPr>
      </p:cxnSp>
      <p:sp>
        <p:nvSpPr>
          <p:cNvPr id="305" name="Google Shape;305;p7"/>
          <p:cNvSpPr/>
          <p:nvPr/>
        </p:nvSpPr>
        <p:spPr>
          <a:xfrm>
            <a:off x="2490216" y="2880360"/>
            <a:ext cx="3572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spawn request</a:t>
            </a:r>
            <a:endParaRPr b="0" i="0" sz="1080" u="none" cap="none" strike="noStrike">
              <a:solidFill>
                <a:schemeClr val="dk1"/>
              </a:solidFill>
              <a:latin typeface="Arial"/>
              <a:ea typeface="Arial"/>
              <a:cs typeface="Arial"/>
              <a:sym typeface="Arial"/>
            </a:endParaRPr>
          </a:p>
        </p:txBody>
      </p:sp>
      <p:cxnSp>
        <p:nvCxnSpPr>
          <p:cNvPr id="306" name="Google Shape;306;p7"/>
          <p:cNvCxnSpPr/>
          <p:nvPr/>
        </p:nvCxnSpPr>
        <p:spPr>
          <a:xfrm>
            <a:off x="6190488" y="3474720"/>
            <a:ext cx="1658112" cy="0"/>
          </a:xfrm>
          <a:prstGeom prst="straightConnector1">
            <a:avLst/>
          </a:prstGeom>
          <a:noFill/>
          <a:ln cap="flat" cmpd="sng" w="20950">
            <a:solidFill>
              <a:srgbClr val="243646"/>
            </a:solidFill>
            <a:prstDash val="solid"/>
            <a:round/>
            <a:headEnd len="sm" w="sm" type="none"/>
            <a:tailEnd len="med" w="med" type="triangle"/>
          </a:ln>
        </p:spPr>
      </p:cxnSp>
      <p:sp>
        <p:nvSpPr>
          <p:cNvPr id="307" name="Google Shape;307;p7"/>
          <p:cNvSpPr/>
          <p:nvPr/>
        </p:nvSpPr>
        <p:spPr>
          <a:xfrm>
            <a:off x="6135624" y="3236976"/>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choose / attach</a:t>
            </a:r>
            <a:endParaRPr b="0" i="0" sz="1080" u="none" cap="none" strike="noStrike">
              <a:solidFill>
                <a:schemeClr val="dk1"/>
              </a:solidFill>
              <a:latin typeface="Arial"/>
              <a:ea typeface="Arial"/>
              <a:cs typeface="Arial"/>
              <a:sym typeface="Arial"/>
            </a:endParaRPr>
          </a:p>
        </p:txBody>
      </p:sp>
      <p:cxnSp>
        <p:nvCxnSpPr>
          <p:cNvPr id="308" name="Google Shape;308;p7"/>
          <p:cNvCxnSpPr/>
          <p:nvPr/>
        </p:nvCxnSpPr>
        <p:spPr>
          <a:xfrm>
            <a:off x="8013192" y="3831336"/>
            <a:ext cx="1658112" cy="0"/>
          </a:xfrm>
          <a:prstGeom prst="straightConnector1">
            <a:avLst/>
          </a:prstGeom>
          <a:noFill/>
          <a:ln cap="flat" cmpd="sng" w="20950">
            <a:solidFill>
              <a:srgbClr val="243646"/>
            </a:solidFill>
            <a:prstDash val="solid"/>
            <a:round/>
            <a:headEnd len="sm" w="sm" type="none"/>
            <a:tailEnd len="med" w="med" type="triangle"/>
          </a:ln>
        </p:spPr>
      </p:cxnSp>
      <p:sp>
        <p:nvSpPr>
          <p:cNvPr id="309" name="Google Shape;309;p7"/>
          <p:cNvSpPr/>
          <p:nvPr/>
        </p:nvSpPr>
        <p:spPr>
          <a:xfrm>
            <a:off x="7958328" y="3593592"/>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new screen</a:t>
            </a:r>
            <a:endParaRPr b="0" i="0" sz="1080" u="none" cap="none" strike="noStrike">
              <a:solidFill>
                <a:schemeClr val="dk1"/>
              </a:solidFill>
              <a:latin typeface="Arial"/>
              <a:ea typeface="Arial"/>
              <a:cs typeface="Arial"/>
              <a:sym typeface="Arial"/>
            </a:endParaRPr>
          </a:p>
        </p:txBody>
      </p:sp>
      <p:cxnSp>
        <p:nvCxnSpPr>
          <p:cNvPr id="310" name="Google Shape;310;p7"/>
          <p:cNvCxnSpPr/>
          <p:nvPr/>
        </p:nvCxnSpPr>
        <p:spPr>
          <a:xfrm rot="10800000">
            <a:off x="6190488" y="4187952"/>
            <a:ext cx="1658112" cy="0"/>
          </a:xfrm>
          <a:prstGeom prst="straightConnector1">
            <a:avLst/>
          </a:prstGeom>
          <a:noFill/>
          <a:ln cap="flat" cmpd="sng" w="18400">
            <a:solidFill>
              <a:srgbClr val="267A94"/>
            </a:solidFill>
            <a:prstDash val="dash"/>
            <a:round/>
            <a:headEnd len="sm" w="sm" type="none"/>
            <a:tailEnd len="med" w="med" type="triangle"/>
          </a:ln>
        </p:spPr>
      </p:cxnSp>
      <p:sp>
        <p:nvSpPr>
          <p:cNvPr id="311" name="Google Shape;311;p7"/>
          <p:cNvSpPr/>
          <p:nvPr/>
        </p:nvSpPr>
        <p:spPr>
          <a:xfrm>
            <a:off x="6135624" y="3950208"/>
            <a:ext cx="1749552"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080"/>
              <a:buFont typeface="Arial"/>
              <a:buNone/>
            </a:pPr>
            <a:r>
              <a:rPr b="1" i="0" lang="en-US" sz="1080" u="none" cap="none" strike="noStrike">
                <a:solidFill>
                  <a:srgbClr val="267A94"/>
                </a:solidFill>
                <a:latin typeface="Arial"/>
                <a:ea typeface="Arial"/>
                <a:cs typeface="Arial"/>
                <a:sym typeface="Arial"/>
              </a:rPr>
              <a:t>register pane</a:t>
            </a:r>
            <a:endParaRPr b="0" i="0" sz="1080" u="none" cap="none" strike="noStrike">
              <a:solidFill>
                <a:schemeClr val="dk1"/>
              </a:solidFill>
              <a:latin typeface="Arial"/>
              <a:ea typeface="Arial"/>
              <a:cs typeface="Arial"/>
              <a:sym typeface="Arial"/>
            </a:endParaRPr>
          </a:p>
        </p:txBody>
      </p:sp>
      <p:cxnSp>
        <p:nvCxnSpPr>
          <p:cNvPr id="312" name="Google Shape;312;p7"/>
          <p:cNvCxnSpPr/>
          <p:nvPr/>
        </p:nvCxnSpPr>
        <p:spPr>
          <a:xfrm rot="10800000">
            <a:off x="2545080" y="4553712"/>
            <a:ext cx="3480816" cy="0"/>
          </a:xfrm>
          <a:prstGeom prst="straightConnector1">
            <a:avLst/>
          </a:prstGeom>
          <a:noFill/>
          <a:ln cap="flat" cmpd="sng" w="18400">
            <a:solidFill>
              <a:srgbClr val="267A94"/>
            </a:solidFill>
            <a:prstDash val="dash"/>
            <a:round/>
            <a:headEnd len="sm" w="sm" type="none"/>
            <a:tailEnd len="med" w="med" type="triangle"/>
          </a:ln>
        </p:spPr>
      </p:cxnSp>
      <p:sp>
        <p:nvSpPr>
          <p:cNvPr id="313" name="Google Shape;313;p7"/>
          <p:cNvSpPr/>
          <p:nvPr/>
        </p:nvSpPr>
        <p:spPr>
          <a:xfrm>
            <a:off x="2490216" y="4315968"/>
            <a:ext cx="3572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080"/>
              <a:buFont typeface="Arial"/>
              <a:buNone/>
            </a:pPr>
            <a:r>
              <a:rPr b="1" i="0" lang="en-US" sz="1080" u="none" cap="none" strike="noStrike">
                <a:solidFill>
                  <a:srgbClr val="267A94"/>
                </a:solidFill>
                <a:latin typeface="Arial"/>
                <a:ea typeface="Arial"/>
                <a:cs typeface="Arial"/>
                <a:sym typeface="Arial"/>
              </a:rPr>
              <a:t>tab added</a:t>
            </a:r>
            <a:endParaRPr b="0" i="0" sz="1080" u="none" cap="none" strike="noStrike">
              <a:solidFill>
                <a:schemeClr val="dk1"/>
              </a:solidFill>
              <a:latin typeface="Arial"/>
              <a:ea typeface="Arial"/>
              <a:cs typeface="Arial"/>
              <a:sym typeface="Arial"/>
            </a:endParaRPr>
          </a:p>
        </p:txBody>
      </p:sp>
      <p:cxnSp>
        <p:nvCxnSpPr>
          <p:cNvPr id="314" name="Google Shape;314;p7"/>
          <p:cNvCxnSpPr/>
          <p:nvPr/>
        </p:nvCxnSpPr>
        <p:spPr>
          <a:xfrm>
            <a:off x="2545080" y="4937760"/>
            <a:ext cx="8948928" cy="0"/>
          </a:xfrm>
          <a:prstGeom prst="straightConnector1">
            <a:avLst/>
          </a:prstGeom>
          <a:noFill/>
          <a:ln cap="flat" cmpd="sng" w="20950">
            <a:solidFill>
              <a:srgbClr val="243646"/>
            </a:solidFill>
            <a:prstDash val="solid"/>
            <a:round/>
            <a:headEnd len="sm" w="sm" type="none"/>
            <a:tailEnd len="med" w="med" type="triangle"/>
          </a:ln>
        </p:spPr>
      </p:cxnSp>
      <p:sp>
        <p:nvSpPr>
          <p:cNvPr id="315" name="Google Shape;315;p7"/>
          <p:cNvSpPr/>
          <p:nvPr/>
        </p:nvSpPr>
        <p:spPr>
          <a:xfrm>
            <a:off x="2490216" y="4700016"/>
            <a:ext cx="9040368"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43646"/>
              </a:buClr>
              <a:buSzPts val="1080"/>
              <a:buFont typeface="Arial"/>
              <a:buNone/>
            </a:pPr>
            <a:r>
              <a:rPr b="0" i="0" lang="en-US" sz="1080" u="none" cap="none" strike="noStrike">
                <a:solidFill>
                  <a:srgbClr val="243646"/>
                </a:solidFill>
                <a:latin typeface="Arial"/>
                <a:ea typeface="Arial"/>
                <a:cs typeface="Arial"/>
                <a:sym typeface="Arial"/>
              </a:rPr>
              <a:t>first frame</a:t>
            </a:r>
            <a:endParaRPr b="0" i="0" sz="1080" u="none" cap="none" strike="noStrike">
              <a:solidFill>
                <a:schemeClr val="dk1"/>
              </a:solidFill>
              <a:latin typeface="Arial"/>
              <a:ea typeface="Arial"/>
              <a:cs typeface="Arial"/>
              <a:sym typeface="Arial"/>
            </a:endParaRPr>
          </a:p>
        </p:txBody>
      </p:sp>
      <p:cxnSp>
        <p:nvCxnSpPr>
          <p:cNvPr id="316" name="Google Shape;316;p7"/>
          <p:cNvCxnSpPr/>
          <p:nvPr/>
        </p:nvCxnSpPr>
        <p:spPr>
          <a:xfrm rot="10800000">
            <a:off x="6190488" y="5303520"/>
            <a:ext cx="3480816" cy="0"/>
          </a:xfrm>
          <a:prstGeom prst="straightConnector1">
            <a:avLst/>
          </a:prstGeom>
          <a:noFill/>
          <a:ln cap="flat" cmpd="sng" w="18400">
            <a:solidFill>
              <a:srgbClr val="267A94"/>
            </a:solidFill>
            <a:prstDash val="dash"/>
            <a:round/>
            <a:headEnd len="sm" w="sm" type="none"/>
            <a:tailEnd len="med" w="med" type="triangle"/>
          </a:ln>
        </p:spPr>
      </p:cxnSp>
      <p:sp>
        <p:nvSpPr>
          <p:cNvPr id="317" name="Google Shape;317;p7"/>
          <p:cNvSpPr/>
          <p:nvPr/>
        </p:nvSpPr>
        <p:spPr>
          <a:xfrm>
            <a:off x="6135624" y="5065776"/>
            <a:ext cx="3572256" cy="2011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080"/>
              <a:buFont typeface="Arial"/>
              <a:buNone/>
            </a:pPr>
            <a:r>
              <a:rPr b="1" i="0" lang="en-US" sz="1080" u="none" cap="none" strike="noStrike">
                <a:solidFill>
                  <a:srgbClr val="267A94"/>
                </a:solidFill>
                <a:latin typeface="Arial"/>
                <a:ea typeface="Arial"/>
                <a:cs typeface="Arial"/>
                <a:sym typeface="Arial"/>
              </a:rPr>
              <a:t>shell prompt</a:t>
            </a:r>
            <a:endParaRPr b="0" i="0" sz="1080" u="none" cap="none" strike="noStrike">
              <a:solidFill>
                <a:schemeClr val="dk1"/>
              </a:solidFill>
              <a:latin typeface="Arial"/>
              <a:ea typeface="Arial"/>
              <a:cs typeface="Arial"/>
              <a:sym typeface="Arial"/>
            </a:endParaRPr>
          </a:p>
        </p:txBody>
      </p:sp>
      <p:sp>
        <p:nvSpPr>
          <p:cNvPr id="318" name="Google Shape;318;p7"/>
          <p:cNvSpPr/>
          <p:nvPr/>
        </p:nvSpPr>
        <p:spPr>
          <a:xfrm>
            <a:off x="2112264" y="5843016"/>
            <a:ext cx="7982712" cy="310896"/>
          </a:xfrm>
          <a:prstGeom prst="roundRect">
            <a:avLst>
              <a:gd fmla="val 29412" name="adj"/>
            </a:avLst>
          </a:prstGeom>
          <a:solidFill>
            <a:srgbClr val="F2F6F8"/>
          </a:solidFill>
          <a:ln cap="flat" cmpd="sng" w="12700">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2267712" y="5897880"/>
            <a:ext cx="7653528" cy="2103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260"/>
              <a:buFont typeface="Arial"/>
              <a:buNone/>
            </a:pPr>
            <a:r>
              <a:rPr b="0" i="0" lang="en-US" sz="1260" u="none" cap="none" strike="noStrike">
                <a:solidFill>
                  <a:srgbClr val="267A94"/>
                </a:solidFill>
                <a:latin typeface="Arial"/>
                <a:ea typeface="Arial"/>
                <a:cs typeface="Arial"/>
                <a:sym typeface="Arial"/>
              </a:rPr>
              <a:t>Domain = local PTY or remote connection; subsequent prompt follows sequence 1.</a:t>
            </a:r>
            <a:endParaRPr b="0" i="0" sz="126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324" name="Shape 324"/>
        <p:cNvGrpSpPr/>
        <p:nvPr/>
      </p:nvGrpSpPr>
      <p:grpSpPr>
        <a:xfrm>
          <a:off x="0" y="0"/>
          <a:ext cx="0" cy="0"/>
          <a:chOff x="0" y="0"/>
          <a:chExt cx="0" cy="0"/>
        </a:xfrm>
      </p:grpSpPr>
      <p:sp>
        <p:nvSpPr>
          <p:cNvPr id="325" name="Google Shape;325;p8"/>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Concurrency &amp; data movement</a:t>
            </a:r>
            <a:endParaRPr b="0" i="0" sz="2800" u="none" cap="none" strike="noStrike">
              <a:solidFill>
                <a:schemeClr val="dk1"/>
              </a:solidFill>
              <a:latin typeface="Arial"/>
              <a:ea typeface="Arial"/>
              <a:cs typeface="Arial"/>
              <a:sym typeface="Arial"/>
            </a:endParaRPr>
          </a:p>
        </p:txBody>
      </p:sp>
      <p:sp>
        <p:nvSpPr>
          <p:cNvPr id="327" name="Google Shape;327;p8"/>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Responsiveness through decoupling</a:t>
            </a:r>
            <a:endParaRPr b="0" i="0" sz="1300" u="none" cap="none" strike="noStrike">
              <a:solidFill>
                <a:schemeClr val="dk1"/>
              </a:solidFill>
              <a:latin typeface="Arial"/>
              <a:ea typeface="Arial"/>
              <a:cs typeface="Arial"/>
              <a:sym typeface="Arial"/>
            </a:endParaRPr>
          </a:p>
        </p:txBody>
      </p:sp>
      <p:sp>
        <p:nvSpPr>
          <p:cNvPr id="328" name="Google Shape;328;p8"/>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ERIC  ·  8/11</a:t>
            </a:r>
            <a:endParaRPr b="0" i="0" sz="1050" u="none" cap="none" strike="noStrike">
              <a:solidFill>
                <a:schemeClr val="dk1"/>
              </a:solidFill>
              <a:latin typeface="Arial"/>
              <a:ea typeface="Arial"/>
              <a:cs typeface="Arial"/>
              <a:sym typeface="Arial"/>
            </a:endParaRPr>
          </a:p>
        </p:txBody>
      </p:sp>
      <p:cxnSp>
        <p:nvCxnSpPr>
          <p:cNvPr id="329" name="Google Shape;329;p8"/>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330" name="Google Shape;330;p8"/>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331" name="Google Shape;331;p8"/>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§§3.4, 5.3</a:t>
            </a:r>
            <a:endParaRPr b="0" i="0" sz="900" u="none" cap="none" strike="noStrike">
              <a:solidFill>
                <a:schemeClr val="dk1"/>
              </a:solidFill>
              <a:latin typeface="Arial"/>
              <a:ea typeface="Arial"/>
              <a:cs typeface="Arial"/>
              <a:sym typeface="Arial"/>
            </a:endParaRPr>
          </a:p>
        </p:txBody>
      </p:sp>
      <p:sp>
        <p:nvSpPr>
          <p:cNvPr id="332" name="Google Shape;332;p8"/>
          <p:cNvSpPr/>
          <p:nvPr/>
        </p:nvSpPr>
        <p:spPr>
          <a:xfrm>
            <a:off x="749808" y="1207008"/>
            <a:ext cx="10899648"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929"/>
              <a:buFont typeface="Arial"/>
              <a:buNone/>
            </a:pPr>
            <a:r>
              <a:rPr b="0" i="0" lang="en-US" sz="1930" u="none" cap="none" strike="noStrike">
                <a:solidFill>
                  <a:srgbClr val="5E6D7C"/>
                </a:solidFill>
                <a:latin typeface="Arial"/>
                <a:ea typeface="Arial"/>
                <a:cs typeface="Arial"/>
                <a:sym typeface="Arial"/>
              </a:rPr>
              <a:t>The GUI stays responsive while panes produce output</a:t>
            </a:r>
            <a:endParaRPr b="0" i="0" sz="1930" u="none" cap="none" strike="noStrike">
              <a:solidFill>
                <a:schemeClr val="dk1"/>
              </a:solidFill>
              <a:latin typeface="Arial"/>
              <a:ea typeface="Arial"/>
              <a:cs typeface="Arial"/>
              <a:sym typeface="Arial"/>
            </a:endParaRPr>
          </a:p>
        </p:txBody>
      </p:sp>
      <p:sp>
        <p:nvSpPr>
          <p:cNvPr id="333" name="Google Shape;333;p8"/>
          <p:cNvSpPr/>
          <p:nvPr/>
        </p:nvSpPr>
        <p:spPr>
          <a:xfrm>
            <a:off x="777240" y="1947672"/>
            <a:ext cx="3246120" cy="1252728"/>
          </a:xfrm>
          <a:prstGeom prst="roundRect">
            <a:avLst>
              <a:gd fmla="val 10949" name="adj"/>
            </a:avLst>
          </a:prstGeom>
          <a:solidFill>
            <a:srgbClr val="FFFFFF"/>
          </a:solidFill>
          <a:ln cap="flat" cmpd="sng" w="190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868680" y="2029968"/>
            <a:ext cx="306324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Per-pane background I/O</a:t>
            </a:r>
            <a:endParaRPr b="0" i="0" sz="1680" u="none" cap="none" strike="noStrike">
              <a:solidFill>
                <a:schemeClr val="dk1"/>
              </a:solidFill>
              <a:latin typeface="Arial"/>
              <a:ea typeface="Arial"/>
              <a:cs typeface="Arial"/>
              <a:sym typeface="Arial"/>
            </a:endParaRPr>
          </a:p>
        </p:txBody>
      </p:sp>
      <p:sp>
        <p:nvSpPr>
          <p:cNvPr id="335" name="Google Shape;335;p8"/>
          <p:cNvSpPr/>
          <p:nvPr/>
        </p:nvSpPr>
        <p:spPr>
          <a:xfrm>
            <a:off x="886968" y="2368296"/>
            <a:ext cx="3026664" cy="804672"/>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Read bytes → parse terminal output</a:t>
            </a:r>
            <a:endParaRPr b="0" i="0" sz="1180" u="none" cap="none" strike="noStrike">
              <a:solidFill>
                <a:schemeClr val="dk1"/>
              </a:solidFill>
              <a:latin typeface="Arial"/>
              <a:ea typeface="Arial"/>
              <a:cs typeface="Arial"/>
              <a:sym typeface="Arial"/>
            </a:endParaRPr>
          </a:p>
        </p:txBody>
      </p:sp>
      <p:sp>
        <p:nvSpPr>
          <p:cNvPr id="336" name="Google Shape;336;p8"/>
          <p:cNvSpPr/>
          <p:nvPr/>
        </p:nvSpPr>
        <p:spPr>
          <a:xfrm>
            <a:off x="4498848" y="1947672"/>
            <a:ext cx="3182112" cy="1252728"/>
          </a:xfrm>
          <a:prstGeom prst="roundRect">
            <a:avLst>
              <a:gd fmla="val 10949" name="adj"/>
            </a:avLst>
          </a:prstGeom>
          <a:solidFill>
            <a:srgbClr val="DDEFF2"/>
          </a:solidFill>
          <a:ln cap="flat" cmpd="sng" w="19050">
            <a:solidFill>
              <a:srgbClr val="267A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8"/>
          <p:cNvSpPr/>
          <p:nvPr/>
        </p:nvSpPr>
        <p:spPr>
          <a:xfrm>
            <a:off x="4590288" y="2029968"/>
            <a:ext cx="2999232"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Mux</a:t>
            </a:r>
            <a:endParaRPr b="0" i="0" sz="1680" u="none" cap="none" strike="noStrike">
              <a:solidFill>
                <a:schemeClr val="dk1"/>
              </a:solidFill>
              <a:latin typeface="Arial"/>
              <a:ea typeface="Arial"/>
              <a:cs typeface="Arial"/>
              <a:sym typeface="Arial"/>
            </a:endParaRPr>
          </a:p>
        </p:txBody>
      </p:sp>
      <p:sp>
        <p:nvSpPr>
          <p:cNvPr id="338" name="Google Shape;338;p8"/>
          <p:cNvSpPr/>
          <p:nvPr/>
        </p:nvSpPr>
        <p:spPr>
          <a:xfrm>
            <a:off x="4608576" y="2368296"/>
            <a:ext cx="2962656" cy="804672"/>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Shared pane state + small notifications</a:t>
            </a:r>
            <a:endParaRPr b="0" i="0" sz="1180" u="none" cap="none" strike="noStrike">
              <a:solidFill>
                <a:schemeClr val="dk1"/>
              </a:solidFill>
              <a:latin typeface="Arial"/>
              <a:ea typeface="Arial"/>
              <a:cs typeface="Arial"/>
              <a:sym typeface="Arial"/>
            </a:endParaRPr>
          </a:p>
        </p:txBody>
      </p:sp>
      <p:sp>
        <p:nvSpPr>
          <p:cNvPr id="339" name="Google Shape;339;p8"/>
          <p:cNvSpPr/>
          <p:nvPr/>
        </p:nvSpPr>
        <p:spPr>
          <a:xfrm>
            <a:off x="8156448" y="1947672"/>
            <a:ext cx="3246120" cy="1252728"/>
          </a:xfrm>
          <a:prstGeom prst="roundRect">
            <a:avLst>
              <a:gd fmla="val 10949" name="adj"/>
            </a:avLst>
          </a:prstGeom>
          <a:solidFill>
            <a:srgbClr val="FFFFFF"/>
          </a:solidFill>
          <a:ln cap="flat" cmpd="sng" w="1905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8247888" y="2029968"/>
            <a:ext cx="306324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79"/>
              <a:buFont typeface="Arial"/>
              <a:buNone/>
            </a:pPr>
            <a:r>
              <a:rPr b="1" i="0" lang="en-US" sz="1680" u="none" cap="none" strike="noStrike">
                <a:solidFill>
                  <a:srgbClr val="1A2D42"/>
                </a:solidFill>
                <a:latin typeface="Arial"/>
                <a:ea typeface="Arial"/>
                <a:cs typeface="Arial"/>
                <a:sym typeface="Arial"/>
              </a:rPr>
              <a:t>Main GUI thread</a:t>
            </a:r>
            <a:endParaRPr b="0" i="0" sz="1680" u="none" cap="none" strike="noStrike">
              <a:solidFill>
                <a:schemeClr val="dk1"/>
              </a:solidFill>
              <a:latin typeface="Arial"/>
              <a:ea typeface="Arial"/>
              <a:cs typeface="Arial"/>
              <a:sym typeface="Arial"/>
            </a:endParaRPr>
          </a:p>
        </p:txBody>
      </p:sp>
      <p:sp>
        <p:nvSpPr>
          <p:cNvPr id="341" name="Google Shape;341;p8"/>
          <p:cNvSpPr/>
          <p:nvPr/>
        </p:nvSpPr>
        <p:spPr>
          <a:xfrm>
            <a:off x="8266176" y="2368296"/>
            <a:ext cx="3026664" cy="804672"/>
          </a:xfrm>
          <a:prstGeom prst="rect">
            <a:avLst/>
          </a:prstGeom>
          <a:noFill/>
          <a:ln>
            <a:noFill/>
          </a:ln>
        </p:spPr>
        <p:txBody>
          <a:bodyPr anchorCtr="0" anchor="t" bIns="0" lIns="0" spcFirstLastPara="1" rIns="0" wrap="square" tIns="0">
            <a:normAutofit/>
          </a:bodyPr>
          <a:lstStyle/>
          <a:p>
            <a:pPr indent="0" lvl="0" marL="0" marR="0" rtl="0" algn="ctr">
              <a:spcBef>
                <a:spcPts val="0"/>
              </a:spcBef>
              <a:spcAft>
                <a:spcPts val="0"/>
              </a:spcAft>
              <a:buClr>
                <a:srgbClr val="5E6D7C"/>
              </a:buClr>
              <a:buSzPts val="1180"/>
              <a:buFont typeface="Arial"/>
              <a:buNone/>
            </a:pPr>
            <a:r>
              <a:rPr b="0" i="0" lang="en-US" sz="1180" u="none" cap="none" strike="noStrike">
                <a:solidFill>
                  <a:srgbClr val="5E6D7C"/>
                </a:solidFill>
                <a:latin typeface="Arial"/>
                <a:ea typeface="Arial"/>
                <a:cs typeface="Arial"/>
                <a:sym typeface="Arial"/>
              </a:rPr>
              <a:t>Receive notifications → repaint</a:t>
            </a:r>
            <a:endParaRPr b="0" i="0" sz="1180" u="none" cap="none" strike="noStrike">
              <a:solidFill>
                <a:schemeClr val="dk1"/>
              </a:solidFill>
              <a:latin typeface="Arial"/>
              <a:ea typeface="Arial"/>
              <a:cs typeface="Arial"/>
              <a:sym typeface="Arial"/>
            </a:endParaRPr>
          </a:p>
        </p:txBody>
      </p:sp>
      <p:cxnSp>
        <p:nvCxnSpPr>
          <p:cNvPr id="342" name="Google Shape;342;p8"/>
          <p:cNvCxnSpPr/>
          <p:nvPr/>
        </p:nvCxnSpPr>
        <p:spPr>
          <a:xfrm>
            <a:off x="4023360" y="2569464"/>
            <a:ext cx="475488" cy="0"/>
          </a:xfrm>
          <a:prstGeom prst="straightConnector1">
            <a:avLst/>
          </a:prstGeom>
          <a:noFill/>
          <a:ln cap="flat" cmpd="sng" w="25400">
            <a:solidFill>
              <a:srgbClr val="267A94"/>
            </a:solidFill>
            <a:prstDash val="solid"/>
            <a:round/>
            <a:headEnd len="sm" w="sm" type="none"/>
            <a:tailEnd len="med" w="med" type="triangle"/>
          </a:ln>
        </p:spPr>
      </p:cxnSp>
      <p:cxnSp>
        <p:nvCxnSpPr>
          <p:cNvPr id="343" name="Google Shape;343;p8"/>
          <p:cNvCxnSpPr/>
          <p:nvPr/>
        </p:nvCxnSpPr>
        <p:spPr>
          <a:xfrm>
            <a:off x="7680960" y="2569464"/>
            <a:ext cx="475488" cy="0"/>
          </a:xfrm>
          <a:prstGeom prst="straightConnector1">
            <a:avLst/>
          </a:prstGeom>
          <a:noFill/>
          <a:ln cap="flat" cmpd="sng" w="25400">
            <a:solidFill>
              <a:srgbClr val="267A94"/>
            </a:solidFill>
            <a:prstDash val="dash"/>
            <a:round/>
            <a:headEnd len="sm" w="sm" type="none"/>
            <a:tailEnd len="med" w="med" type="triangle"/>
          </a:ln>
        </p:spPr>
      </p:cxnSp>
      <p:sp>
        <p:nvSpPr>
          <p:cNvPr id="344" name="Google Shape;344;p8"/>
          <p:cNvSpPr/>
          <p:nvPr/>
        </p:nvSpPr>
        <p:spPr>
          <a:xfrm>
            <a:off x="3886200" y="3337560"/>
            <a:ext cx="1783080" cy="338328"/>
          </a:xfrm>
          <a:prstGeom prst="roundRect">
            <a:avLst>
              <a:gd fmla="val 48649" name="adj"/>
            </a:avLst>
          </a:prstGeom>
          <a:solidFill>
            <a:srgbClr val="F2F6F8"/>
          </a:solidFill>
          <a:ln cap="flat" cmpd="sng" w="12700">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3950208" y="3369564"/>
            <a:ext cx="1655064"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E6D7C"/>
              </a:buClr>
              <a:buSzPts val="1270"/>
              <a:buFont typeface="Arial"/>
              <a:buNone/>
            </a:pPr>
            <a:r>
              <a:rPr b="1" i="0" lang="en-US" sz="1270" u="none" cap="none" strike="noStrike">
                <a:solidFill>
                  <a:srgbClr val="5E6D7C"/>
                </a:solidFill>
                <a:latin typeface="Arial"/>
                <a:ea typeface="Arial"/>
                <a:cs typeface="Arial"/>
                <a:sym typeface="Arial"/>
              </a:rPr>
              <a:t>Thread boundary</a:t>
            </a:r>
            <a:endParaRPr b="0" i="0" sz="1270" u="none" cap="none" strike="noStrike">
              <a:solidFill>
                <a:schemeClr val="dk1"/>
              </a:solidFill>
              <a:latin typeface="Arial"/>
              <a:ea typeface="Arial"/>
              <a:cs typeface="Arial"/>
              <a:sym typeface="Arial"/>
            </a:endParaRPr>
          </a:p>
        </p:txBody>
      </p:sp>
      <p:sp>
        <p:nvSpPr>
          <p:cNvPr id="346" name="Google Shape;346;p8"/>
          <p:cNvSpPr/>
          <p:nvPr/>
        </p:nvSpPr>
        <p:spPr>
          <a:xfrm>
            <a:off x="6949440" y="3337560"/>
            <a:ext cx="1783080" cy="338328"/>
          </a:xfrm>
          <a:prstGeom prst="roundRect">
            <a:avLst>
              <a:gd fmla="val 48649"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a:off x="7013448" y="3369564"/>
            <a:ext cx="1655064"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270"/>
              <a:buFont typeface="Arial"/>
              <a:buNone/>
            </a:pPr>
            <a:r>
              <a:rPr b="1" i="0" lang="en-US" sz="1270" u="none" cap="none" strike="noStrike">
                <a:solidFill>
                  <a:srgbClr val="267A94"/>
                </a:solidFill>
                <a:latin typeface="Arial"/>
                <a:ea typeface="Arial"/>
                <a:cs typeface="Arial"/>
                <a:sym typeface="Arial"/>
              </a:rPr>
              <a:t>ID-only event</a:t>
            </a:r>
            <a:endParaRPr b="0" i="0" sz="1270" u="none" cap="none" strike="noStrike">
              <a:solidFill>
                <a:schemeClr val="dk1"/>
              </a:solidFill>
              <a:latin typeface="Arial"/>
              <a:ea typeface="Arial"/>
              <a:cs typeface="Arial"/>
              <a:sym typeface="Arial"/>
            </a:endParaRPr>
          </a:p>
        </p:txBody>
      </p:sp>
      <p:sp>
        <p:nvSpPr>
          <p:cNvPr id="348" name="Google Shape;348;p8"/>
          <p:cNvSpPr/>
          <p:nvPr/>
        </p:nvSpPr>
        <p:spPr>
          <a:xfrm>
            <a:off x="777240" y="4242816"/>
            <a:ext cx="5138928" cy="1371600"/>
          </a:xfrm>
          <a:prstGeom prst="roundRect">
            <a:avLst>
              <a:gd fmla="val 6667" name="adj"/>
            </a:avLst>
          </a:prstGeom>
          <a:solidFill>
            <a:srgbClr val="EAF4F4"/>
          </a:solidFill>
          <a:ln cap="flat" cmpd="sng" w="12700">
            <a:solidFill>
              <a:srgbClr val="EAF4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978408" y="4489704"/>
            <a:ext cx="18288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00"/>
              <a:buFont typeface="Arial"/>
              <a:buNone/>
            </a:pPr>
            <a:r>
              <a:rPr b="1" i="0" lang="en-US" sz="1800" u="none" cap="none" strike="noStrike">
                <a:solidFill>
                  <a:srgbClr val="1A2D42"/>
                </a:solidFill>
                <a:latin typeface="Arial"/>
                <a:ea typeface="Arial"/>
                <a:cs typeface="Arial"/>
                <a:sym typeface="Arial"/>
              </a:rPr>
              <a:t>Benefit</a:t>
            </a:r>
            <a:endParaRPr b="0" i="0" sz="1800" u="none" cap="none" strike="noStrike">
              <a:solidFill>
                <a:schemeClr val="dk1"/>
              </a:solidFill>
              <a:latin typeface="Arial"/>
              <a:ea typeface="Arial"/>
              <a:cs typeface="Arial"/>
              <a:sym typeface="Arial"/>
            </a:endParaRPr>
          </a:p>
        </p:txBody>
      </p:sp>
      <p:sp>
        <p:nvSpPr>
          <p:cNvPr id="350" name="Google Shape;350;p8"/>
          <p:cNvSpPr/>
          <p:nvPr/>
        </p:nvSpPr>
        <p:spPr>
          <a:xfrm>
            <a:off x="978408" y="4873752"/>
            <a:ext cx="470916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640"/>
              <a:buFont typeface="Arial"/>
              <a:buNone/>
            </a:pPr>
            <a:r>
              <a:rPr b="0" i="0" lang="en-US" sz="1640" u="none" cap="none" strike="noStrike">
                <a:solidFill>
                  <a:srgbClr val="243646"/>
                </a:solidFill>
                <a:latin typeface="Arial"/>
                <a:ea typeface="Arial"/>
                <a:cs typeface="Arial"/>
                <a:sym typeface="Arial"/>
              </a:rPr>
              <a:t>Heavy shell output need not block keyboard input or drawing.</a:t>
            </a:r>
            <a:endParaRPr b="0" i="0" sz="1640" u="none" cap="none" strike="noStrike">
              <a:solidFill>
                <a:schemeClr val="dk1"/>
              </a:solidFill>
              <a:latin typeface="Arial"/>
              <a:ea typeface="Arial"/>
              <a:cs typeface="Arial"/>
              <a:sym typeface="Arial"/>
            </a:endParaRPr>
          </a:p>
        </p:txBody>
      </p:sp>
      <p:sp>
        <p:nvSpPr>
          <p:cNvPr id="351" name="Google Shape;351;p8"/>
          <p:cNvSpPr/>
          <p:nvPr/>
        </p:nvSpPr>
        <p:spPr>
          <a:xfrm>
            <a:off x="6144768" y="4242816"/>
            <a:ext cx="5276088" cy="1371600"/>
          </a:xfrm>
          <a:prstGeom prst="roundRect">
            <a:avLst>
              <a:gd fmla="val 6667" name="adj"/>
            </a:avLst>
          </a:prstGeom>
          <a:solidFill>
            <a:srgbClr val="FBF1E8"/>
          </a:solidFill>
          <a:ln cap="flat" cmpd="sng" w="12700">
            <a:solidFill>
              <a:srgbClr val="FB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6364224" y="4489704"/>
            <a:ext cx="429768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00"/>
              <a:buFont typeface="Arial"/>
              <a:buNone/>
            </a:pPr>
            <a:r>
              <a:rPr b="1" i="0" lang="en-US" sz="1800" u="none" cap="none" strike="noStrike">
                <a:solidFill>
                  <a:srgbClr val="1A2D42"/>
                </a:solidFill>
                <a:latin typeface="Arial"/>
                <a:ea typeface="Arial"/>
                <a:cs typeface="Arial"/>
                <a:sym typeface="Arial"/>
              </a:rPr>
              <a:t>Coordination cost</a:t>
            </a:r>
            <a:endParaRPr b="0" i="0" sz="1800" u="none" cap="none" strike="noStrike">
              <a:solidFill>
                <a:schemeClr val="dk1"/>
              </a:solidFill>
              <a:latin typeface="Arial"/>
              <a:ea typeface="Arial"/>
              <a:cs typeface="Arial"/>
              <a:sym typeface="Arial"/>
            </a:endParaRPr>
          </a:p>
        </p:txBody>
      </p:sp>
      <p:sp>
        <p:nvSpPr>
          <p:cNvPr id="353" name="Google Shape;353;p8"/>
          <p:cNvSpPr/>
          <p:nvPr/>
        </p:nvSpPr>
        <p:spPr>
          <a:xfrm>
            <a:off x="6364224" y="4873752"/>
            <a:ext cx="475488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640"/>
              <a:buFont typeface="Arial"/>
              <a:buNone/>
            </a:pPr>
            <a:r>
              <a:rPr b="0" i="0" lang="en-US" sz="1640" u="none" cap="none" strike="noStrike">
                <a:solidFill>
                  <a:srgbClr val="243646"/>
                </a:solidFill>
                <a:latin typeface="Arial"/>
                <a:ea typeface="Arial"/>
                <a:cs typeface="Arial"/>
                <a:sym typeface="Arial"/>
              </a:rPr>
              <a:t>Synchronized registries; avoid blocking Lua event handlers.</a:t>
            </a:r>
            <a:endParaRPr b="0" i="0" sz="164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358" name="Shape 358"/>
        <p:cNvGrpSpPr/>
        <p:nvPr/>
      </p:nvGrpSpPr>
      <p:grpSpPr>
        <a:xfrm>
          <a:off x="0" y="0"/>
          <a:ext cx="0" cy="0"/>
          <a:chOff x="0" y="0"/>
          <a:chExt cx="0" cy="0"/>
        </a:xfrm>
      </p:grpSpPr>
      <p:sp>
        <p:nvSpPr>
          <p:cNvPr id="359" name="Google Shape;359;p9"/>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Evolution &amp; developer ownership</a:t>
            </a:r>
            <a:endParaRPr b="0" i="0" sz="2800" u="none" cap="none" strike="noStrike">
              <a:solidFill>
                <a:schemeClr val="dk1"/>
              </a:solidFill>
              <a:latin typeface="Arial"/>
              <a:ea typeface="Arial"/>
              <a:cs typeface="Arial"/>
              <a:sym typeface="Arial"/>
            </a:endParaRPr>
          </a:p>
        </p:txBody>
      </p:sp>
      <p:sp>
        <p:nvSpPr>
          <p:cNvPr id="361" name="Google Shape;361;p9"/>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Modularity is useful, not absolute</a:t>
            </a:r>
            <a:endParaRPr b="0" i="0" sz="1300" u="none" cap="none" strike="noStrike">
              <a:solidFill>
                <a:schemeClr val="dk1"/>
              </a:solidFill>
              <a:latin typeface="Arial"/>
              <a:ea typeface="Arial"/>
              <a:cs typeface="Arial"/>
              <a:sym typeface="Arial"/>
            </a:endParaRPr>
          </a:p>
        </p:txBody>
      </p:sp>
      <p:sp>
        <p:nvSpPr>
          <p:cNvPr id="362" name="Google Shape;362;p9"/>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ERIC  ·  9/11</a:t>
            </a:r>
            <a:endParaRPr b="0" i="0" sz="1050" u="none" cap="none" strike="noStrike">
              <a:solidFill>
                <a:schemeClr val="dk1"/>
              </a:solidFill>
              <a:latin typeface="Arial"/>
              <a:ea typeface="Arial"/>
              <a:cs typeface="Arial"/>
              <a:sym typeface="Arial"/>
            </a:endParaRPr>
          </a:p>
        </p:txBody>
      </p:sp>
      <p:cxnSp>
        <p:nvCxnSpPr>
          <p:cNvPr id="363" name="Google Shape;363;p9"/>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364" name="Google Shape;364;p9"/>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365" name="Google Shape;365;p9"/>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§§3.5–3.6</a:t>
            </a:r>
            <a:endParaRPr b="0" i="0" sz="900" u="none" cap="none" strike="noStrike">
              <a:solidFill>
                <a:schemeClr val="dk1"/>
              </a:solidFill>
              <a:latin typeface="Arial"/>
              <a:ea typeface="Arial"/>
              <a:cs typeface="Arial"/>
              <a:sym typeface="Arial"/>
            </a:endParaRPr>
          </a:p>
        </p:txBody>
      </p:sp>
      <p:sp>
        <p:nvSpPr>
          <p:cNvPr id="366" name="Google Shape;366;p9"/>
          <p:cNvSpPr/>
          <p:nvPr/>
        </p:nvSpPr>
        <p:spPr>
          <a:xfrm>
            <a:off x="749808" y="1490472"/>
            <a:ext cx="6592824" cy="1088136"/>
          </a:xfrm>
          <a:prstGeom prst="roundRect">
            <a:avLst>
              <a:gd fmla="val 10084"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923544" y="1655064"/>
            <a:ext cx="6245352"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50"/>
              <a:buFont typeface="Arial"/>
              <a:buNone/>
            </a:pPr>
            <a:r>
              <a:rPr b="1" i="0" lang="en-US" sz="1850" u="none" cap="none" strike="noStrike">
                <a:solidFill>
                  <a:srgbClr val="1A2D42"/>
                </a:solidFill>
                <a:latin typeface="Arial"/>
                <a:ea typeface="Arial"/>
                <a:cs typeface="Arial"/>
                <a:sym typeface="Arial"/>
              </a:rPr>
              <a:t>Lua configuration</a:t>
            </a:r>
            <a:endParaRPr b="0" i="0" sz="1850" u="none" cap="none" strike="noStrike">
              <a:solidFill>
                <a:schemeClr val="dk1"/>
              </a:solidFill>
              <a:latin typeface="Arial"/>
              <a:ea typeface="Arial"/>
              <a:cs typeface="Arial"/>
              <a:sym typeface="Arial"/>
            </a:endParaRPr>
          </a:p>
        </p:txBody>
      </p:sp>
      <p:sp>
        <p:nvSpPr>
          <p:cNvPr id="368" name="Google Shape;368;p9"/>
          <p:cNvSpPr/>
          <p:nvPr/>
        </p:nvSpPr>
        <p:spPr>
          <a:xfrm>
            <a:off x="923544" y="2103120"/>
            <a:ext cx="6245352" cy="3657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550"/>
              <a:buFont typeface="Arial"/>
              <a:buNone/>
            </a:pPr>
            <a:r>
              <a:rPr b="0" i="0" lang="en-US" sz="1550" u="none" cap="none" strike="noStrike">
                <a:solidFill>
                  <a:srgbClr val="5E6D7C"/>
                </a:solidFill>
                <a:latin typeface="Arial"/>
                <a:ea typeface="Arial"/>
                <a:cs typeface="Arial"/>
                <a:sym typeface="Arial"/>
              </a:rPr>
              <a:t>Hot reloading + event handlers</a:t>
            </a:r>
            <a:endParaRPr b="0" i="0" sz="1550" u="none" cap="none" strike="noStrike">
              <a:solidFill>
                <a:schemeClr val="dk1"/>
              </a:solidFill>
              <a:latin typeface="Arial"/>
              <a:ea typeface="Arial"/>
              <a:cs typeface="Arial"/>
              <a:sym typeface="Arial"/>
            </a:endParaRPr>
          </a:p>
        </p:txBody>
      </p:sp>
      <p:sp>
        <p:nvSpPr>
          <p:cNvPr id="369" name="Google Shape;369;p9"/>
          <p:cNvSpPr/>
          <p:nvPr/>
        </p:nvSpPr>
        <p:spPr>
          <a:xfrm>
            <a:off x="7626096" y="1737360"/>
            <a:ext cx="3703320" cy="6309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560"/>
              <a:buFont typeface="Arial"/>
              <a:buNone/>
            </a:pPr>
            <a:r>
              <a:rPr b="1" i="0" lang="en-US" sz="1560" u="none" cap="none" strike="noStrike">
                <a:solidFill>
                  <a:srgbClr val="267A94"/>
                </a:solidFill>
                <a:latin typeface="Arial"/>
                <a:ea typeface="Arial"/>
                <a:cs typeface="Arial"/>
                <a:sym typeface="Arial"/>
              </a:rPr>
              <a:t>Users adapt behaviour without editing Rust</a:t>
            </a:r>
            <a:endParaRPr b="0" i="0" sz="1560" u="none" cap="none" strike="noStrike">
              <a:solidFill>
                <a:schemeClr val="dk1"/>
              </a:solidFill>
              <a:latin typeface="Arial"/>
              <a:ea typeface="Arial"/>
              <a:cs typeface="Arial"/>
              <a:sym typeface="Arial"/>
            </a:endParaRPr>
          </a:p>
        </p:txBody>
      </p:sp>
      <p:sp>
        <p:nvSpPr>
          <p:cNvPr id="370" name="Google Shape;370;p9"/>
          <p:cNvSpPr/>
          <p:nvPr/>
        </p:nvSpPr>
        <p:spPr>
          <a:xfrm>
            <a:off x="749808" y="2770632"/>
            <a:ext cx="6592824" cy="1088136"/>
          </a:xfrm>
          <a:prstGeom prst="roundRect">
            <a:avLst>
              <a:gd fmla="val 10084"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923544" y="2935224"/>
            <a:ext cx="6245352"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50"/>
              <a:buFont typeface="Arial"/>
              <a:buNone/>
            </a:pPr>
            <a:r>
              <a:rPr b="1" i="0" lang="en-US" sz="1850" u="none" cap="none" strike="noStrike">
                <a:solidFill>
                  <a:srgbClr val="1A2D42"/>
                </a:solidFill>
                <a:latin typeface="Arial"/>
                <a:ea typeface="Arial"/>
                <a:cs typeface="Arial"/>
                <a:sym typeface="Arial"/>
              </a:rPr>
              <a:t>Platform abstractions</a:t>
            </a:r>
            <a:endParaRPr b="0" i="0" sz="1850" u="none" cap="none" strike="noStrike">
              <a:solidFill>
                <a:schemeClr val="dk1"/>
              </a:solidFill>
              <a:latin typeface="Arial"/>
              <a:ea typeface="Arial"/>
              <a:cs typeface="Arial"/>
              <a:sym typeface="Arial"/>
            </a:endParaRPr>
          </a:p>
        </p:txBody>
      </p:sp>
      <p:sp>
        <p:nvSpPr>
          <p:cNvPr id="372" name="Google Shape;372;p9"/>
          <p:cNvSpPr/>
          <p:nvPr/>
        </p:nvSpPr>
        <p:spPr>
          <a:xfrm>
            <a:off x="923544" y="3383280"/>
            <a:ext cx="6245352" cy="3657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550"/>
              <a:buFont typeface="Arial"/>
              <a:buNone/>
            </a:pPr>
            <a:r>
              <a:rPr b="0" i="0" lang="en-US" sz="1550" u="none" cap="none" strike="noStrike">
                <a:solidFill>
                  <a:srgbClr val="5E6D7C"/>
                </a:solidFill>
                <a:latin typeface="Arial"/>
                <a:ea typeface="Arial"/>
                <a:cs typeface="Arial"/>
                <a:sym typeface="Arial"/>
              </a:rPr>
              <a:t>Common windowing interfaces</a:t>
            </a:r>
            <a:endParaRPr b="0" i="0" sz="1550" u="none" cap="none" strike="noStrike">
              <a:solidFill>
                <a:schemeClr val="dk1"/>
              </a:solidFill>
              <a:latin typeface="Arial"/>
              <a:ea typeface="Arial"/>
              <a:cs typeface="Arial"/>
              <a:sym typeface="Arial"/>
            </a:endParaRPr>
          </a:p>
        </p:txBody>
      </p:sp>
      <p:sp>
        <p:nvSpPr>
          <p:cNvPr id="373" name="Google Shape;373;p9"/>
          <p:cNvSpPr/>
          <p:nvPr/>
        </p:nvSpPr>
        <p:spPr>
          <a:xfrm>
            <a:off x="7626096" y="3017520"/>
            <a:ext cx="3703320" cy="6309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560"/>
              <a:buFont typeface="Arial"/>
              <a:buNone/>
            </a:pPr>
            <a:r>
              <a:rPr b="1" i="0" lang="en-US" sz="1560" u="none" cap="none" strike="noStrike">
                <a:solidFill>
                  <a:srgbClr val="267A94"/>
                </a:solidFill>
                <a:latin typeface="Arial"/>
                <a:ea typeface="Arial"/>
                <a:cs typeface="Arial"/>
                <a:sym typeface="Arial"/>
              </a:rPr>
              <a:t>Operating-system changes stay localized</a:t>
            </a:r>
            <a:endParaRPr b="0" i="0" sz="1560" u="none" cap="none" strike="noStrike">
              <a:solidFill>
                <a:schemeClr val="dk1"/>
              </a:solidFill>
              <a:latin typeface="Arial"/>
              <a:ea typeface="Arial"/>
              <a:cs typeface="Arial"/>
              <a:sym typeface="Arial"/>
            </a:endParaRPr>
          </a:p>
        </p:txBody>
      </p:sp>
      <p:sp>
        <p:nvSpPr>
          <p:cNvPr id="374" name="Google Shape;374;p9"/>
          <p:cNvSpPr/>
          <p:nvPr/>
        </p:nvSpPr>
        <p:spPr>
          <a:xfrm>
            <a:off x="749808" y="4050792"/>
            <a:ext cx="6592824" cy="1088136"/>
          </a:xfrm>
          <a:prstGeom prst="roundRect">
            <a:avLst>
              <a:gd fmla="val 10084"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923544" y="4215384"/>
            <a:ext cx="6245352"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50"/>
              <a:buFont typeface="Arial"/>
              <a:buNone/>
            </a:pPr>
            <a:r>
              <a:rPr b="1" i="0" lang="en-US" sz="1850" u="none" cap="none" strike="noStrike">
                <a:solidFill>
                  <a:srgbClr val="1A2D42"/>
                </a:solidFill>
                <a:latin typeface="Arial"/>
                <a:ea typeface="Arial"/>
                <a:cs typeface="Arial"/>
                <a:sym typeface="Arial"/>
              </a:rPr>
              <a:t>Mux domain interface</a:t>
            </a:r>
            <a:endParaRPr b="0" i="0" sz="1850" u="none" cap="none" strike="noStrike">
              <a:solidFill>
                <a:schemeClr val="dk1"/>
              </a:solidFill>
              <a:latin typeface="Arial"/>
              <a:ea typeface="Arial"/>
              <a:cs typeface="Arial"/>
              <a:sym typeface="Arial"/>
            </a:endParaRPr>
          </a:p>
        </p:txBody>
      </p:sp>
      <p:sp>
        <p:nvSpPr>
          <p:cNvPr id="376" name="Google Shape;376;p9"/>
          <p:cNvSpPr/>
          <p:nvPr/>
        </p:nvSpPr>
        <p:spPr>
          <a:xfrm>
            <a:off x="923544" y="4663440"/>
            <a:ext cx="6245352" cy="3657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D7C"/>
              </a:buClr>
              <a:buSzPts val="1550"/>
              <a:buFont typeface="Arial"/>
              <a:buNone/>
            </a:pPr>
            <a:r>
              <a:rPr b="0" i="0" lang="en-US" sz="1550" u="none" cap="none" strike="noStrike">
                <a:solidFill>
                  <a:srgbClr val="5E6D7C"/>
                </a:solidFill>
                <a:latin typeface="Arial"/>
                <a:ea typeface="Arial"/>
                <a:cs typeface="Arial"/>
                <a:sym typeface="Arial"/>
              </a:rPr>
              <a:t>Local and remote session types</a:t>
            </a:r>
            <a:endParaRPr b="0" i="0" sz="1550" u="none" cap="none" strike="noStrike">
              <a:solidFill>
                <a:schemeClr val="dk1"/>
              </a:solidFill>
              <a:latin typeface="Arial"/>
              <a:ea typeface="Arial"/>
              <a:cs typeface="Arial"/>
              <a:sym typeface="Arial"/>
            </a:endParaRPr>
          </a:p>
        </p:txBody>
      </p:sp>
      <p:sp>
        <p:nvSpPr>
          <p:cNvPr id="377" name="Google Shape;377;p9"/>
          <p:cNvSpPr/>
          <p:nvPr/>
        </p:nvSpPr>
        <p:spPr>
          <a:xfrm>
            <a:off x="7626096" y="4297680"/>
            <a:ext cx="3703320" cy="6309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560"/>
              <a:buFont typeface="Arial"/>
              <a:buNone/>
            </a:pPr>
            <a:r>
              <a:rPr b="1" i="0" lang="en-US" sz="1560" u="none" cap="none" strike="noStrike">
                <a:solidFill>
                  <a:srgbClr val="267A94"/>
                </a:solidFill>
                <a:latin typeface="Arial"/>
                <a:ea typeface="Arial"/>
                <a:cs typeface="Arial"/>
                <a:sym typeface="Arial"/>
              </a:rPr>
              <a:t>New domain support behind a shared contract</a:t>
            </a:r>
            <a:endParaRPr b="0" i="0" sz="1560" u="none" cap="none" strike="noStrike">
              <a:solidFill>
                <a:schemeClr val="dk1"/>
              </a:solidFill>
              <a:latin typeface="Arial"/>
              <a:ea typeface="Arial"/>
              <a:cs typeface="Arial"/>
              <a:sym typeface="Arial"/>
            </a:endParaRPr>
          </a:p>
        </p:txBody>
      </p:sp>
      <p:sp>
        <p:nvSpPr>
          <p:cNvPr id="378" name="Google Shape;378;p9"/>
          <p:cNvSpPr/>
          <p:nvPr/>
        </p:nvSpPr>
        <p:spPr>
          <a:xfrm>
            <a:off x="749808" y="5596128"/>
            <a:ext cx="10689336" cy="502920"/>
          </a:xfrm>
          <a:prstGeom prst="roundRect">
            <a:avLst>
              <a:gd fmla="val 18182" name="adj"/>
            </a:avLst>
          </a:prstGeom>
          <a:solidFill>
            <a:srgbClr val="F2F6F8"/>
          </a:solidFill>
          <a:ln cap="flat" cmpd="sng" w="12700">
            <a:solidFill>
              <a:srgbClr val="F2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9"/>
          <p:cNvSpPr/>
          <p:nvPr/>
        </p:nvSpPr>
        <p:spPr>
          <a:xfrm>
            <a:off x="987552" y="5696712"/>
            <a:ext cx="10241280"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640"/>
              <a:buFont typeface="Arial"/>
              <a:buNone/>
            </a:pPr>
            <a:r>
              <a:rPr b="1" i="0" lang="en-US" sz="1640" u="none" cap="none" strike="noStrike">
                <a:solidFill>
                  <a:srgbClr val="1A2D42"/>
                </a:solidFill>
                <a:latin typeface="Arial"/>
                <a:ea typeface="Arial"/>
                <a:cs typeface="Arial"/>
                <a:sym typeface="Arial"/>
              </a:rPr>
              <a:t>Developer responsibility: maintain shared interfaces and test subsystem interactions.</a:t>
            </a:r>
            <a:endParaRPr b="0" i="0" sz="164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384" name="Shape 384"/>
        <p:cNvGrpSpPr/>
        <p:nvPr/>
      </p:nvGrpSpPr>
      <p:grpSpPr>
        <a:xfrm>
          <a:off x="0" y="0"/>
          <a:ext cx="0" cy="0"/>
          <a:chOff x="0" y="0"/>
          <a:chExt cx="0" cy="0"/>
        </a:xfrm>
      </p:grpSpPr>
      <p:sp>
        <p:nvSpPr>
          <p:cNvPr id="385" name="Google Shape;385;p10"/>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0"/>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Alternatives, trade-offs &amp; limits</a:t>
            </a:r>
            <a:endParaRPr b="0" i="0" sz="2800" u="none" cap="none" strike="noStrike">
              <a:solidFill>
                <a:schemeClr val="dk1"/>
              </a:solidFill>
              <a:latin typeface="Arial"/>
              <a:ea typeface="Arial"/>
              <a:cs typeface="Arial"/>
              <a:sym typeface="Arial"/>
            </a:endParaRPr>
          </a:p>
        </p:txBody>
      </p:sp>
      <p:sp>
        <p:nvSpPr>
          <p:cNvPr id="387" name="Google Shape;387;p10"/>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What this design gains and costs</a:t>
            </a:r>
            <a:endParaRPr b="0" i="0" sz="1300" u="none" cap="none" strike="noStrike">
              <a:solidFill>
                <a:schemeClr val="dk1"/>
              </a:solidFill>
              <a:latin typeface="Arial"/>
              <a:ea typeface="Arial"/>
              <a:cs typeface="Arial"/>
              <a:sym typeface="Arial"/>
            </a:endParaRPr>
          </a:p>
        </p:txBody>
      </p:sp>
      <p:sp>
        <p:nvSpPr>
          <p:cNvPr id="388" name="Google Shape;388;p10"/>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ERIC  ·  10/11</a:t>
            </a:r>
            <a:endParaRPr b="0" i="0" sz="1050" u="none" cap="none" strike="noStrike">
              <a:solidFill>
                <a:schemeClr val="dk1"/>
              </a:solidFill>
              <a:latin typeface="Arial"/>
              <a:ea typeface="Arial"/>
              <a:cs typeface="Arial"/>
              <a:sym typeface="Arial"/>
            </a:endParaRPr>
          </a:p>
        </p:txBody>
      </p:sp>
      <p:cxnSp>
        <p:nvCxnSpPr>
          <p:cNvPr id="389" name="Google Shape;389;p10"/>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390" name="Google Shape;390;p10"/>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391" name="Google Shape;391;p10"/>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§§2.2–2.5, 8</a:t>
            </a:r>
            <a:endParaRPr b="0" i="0" sz="900" u="none" cap="none" strike="noStrike">
              <a:solidFill>
                <a:schemeClr val="dk1"/>
              </a:solidFill>
              <a:latin typeface="Arial"/>
              <a:ea typeface="Arial"/>
              <a:cs typeface="Arial"/>
              <a:sym typeface="Arial"/>
            </a:endParaRPr>
          </a:p>
        </p:txBody>
      </p:sp>
      <p:sp>
        <p:nvSpPr>
          <p:cNvPr id="392" name="Google Shape;392;p10"/>
          <p:cNvSpPr/>
          <p:nvPr/>
        </p:nvSpPr>
        <p:spPr>
          <a:xfrm>
            <a:off x="713232" y="1152144"/>
            <a:ext cx="10972800" cy="3749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510"/>
              <a:buFont typeface="Arial"/>
              <a:buNone/>
            </a:pPr>
            <a:r>
              <a:rPr b="0" i="0" lang="en-US" sz="1510" u="none" cap="none" strike="noStrike">
                <a:solidFill>
                  <a:srgbClr val="5E6D7C"/>
                </a:solidFill>
                <a:latin typeface="Arial"/>
                <a:ea typeface="Arial"/>
                <a:cs typeface="Arial"/>
                <a:sym typeface="Arial"/>
              </a:rPr>
              <a:t>Alternatives assessed in our report — not claims about historical design decisions</a:t>
            </a:r>
            <a:endParaRPr b="0" i="0" sz="1510" u="none" cap="none" strike="noStrike">
              <a:solidFill>
                <a:schemeClr val="dk1"/>
              </a:solidFill>
              <a:latin typeface="Arial"/>
              <a:ea typeface="Arial"/>
              <a:cs typeface="Arial"/>
              <a:sym typeface="Arial"/>
            </a:endParaRPr>
          </a:p>
        </p:txBody>
      </p:sp>
      <p:sp>
        <p:nvSpPr>
          <p:cNvPr id="393" name="Google Shape;393;p10"/>
          <p:cNvSpPr/>
          <p:nvPr/>
        </p:nvSpPr>
        <p:spPr>
          <a:xfrm>
            <a:off x="749808" y="1773936"/>
            <a:ext cx="10744200" cy="923544"/>
          </a:xfrm>
          <a:prstGeom prst="roundRect">
            <a:avLst>
              <a:gd fmla="val 8911"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950976" y="1883664"/>
            <a:ext cx="281635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20"/>
              <a:buFont typeface="Arial"/>
              <a:buNone/>
            </a:pPr>
            <a:r>
              <a:rPr b="1" i="0" lang="en-US" sz="1820" u="none" cap="none" strike="noStrike">
                <a:solidFill>
                  <a:srgbClr val="1A2D42"/>
                </a:solidFill>
                <a:latin typeface="Arial"/>
                <a:ea typeface="Arial"/>
                <a:cs typeface="Arial"/>
                <a:sym typeface="Arial"/>
              </a:rPr>
              <a:t>Built-in mux</a:t>
            </a:r>
            <a:endParaRPr b="0" i="0" sz="1820" u="none" cap="none" strike="noStrike">
              <a:solidFill>
                <a:schemeClr val="dk1"/>
              </a:solidFill>
              <a:latin typeface="Arial"/>
              <a:ea typeface="Arial"/>
              <a:cs typeface="Arial"/>
              <a:sym typeface="Arial"/>
            </a:endParaRPr>
          </a:p>
        </p:txBody>
      </p:sp>
      <p:sp>
        <p:nvSpPr>
          <p:cNvPr id="395" name="Google Shape;395;p10"/>
          <p:cNvSpPr/>
          <p:nvPr/>
        </p:nvSpPr>
        <p:spPr>
          <a:xfrm>
            <a:off x="3813048" y="1911096"/>
            <a:ext cx="438912" cy="2834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E6D7C"/>
              </a:buClr>
              <a:buSzPts val="1500"/>
              <a:buFont typeface="Arial"/>
              <a:buNone/>
            </a:pPr>
            <a:r>
              <a:rPr b="0" i="0" lang="en-US" sz="1500" u="none" cap="none" strike="noStrike">
                <a:solidFill>
                  <a:srgbClr val="5E6D7C"/>
                </a:solidFill>
                <a:latin typeface="Arial"/>
                <a:ea typeface="Arial"/>
                <a:cs typeface="Arial"/>
                <a:sym typeface="Arial"/>
              </a:rPr>
              <a:t>vs.</a:t>
            </a:r>
            <a:endParaRPr b="0" i="0" sz="1500" u="none" cap="none" strike="noStrike">
              <a:solidFill>
                <a:schemeClr val="dk1"/>
              </a:solidFill>
              <a:latin typeface="Arial"/>
              <a:ea typeface="Arial"/>
              <a:cs typeface="Arial"/>
              <a:sym typeface="Arial"/>
            </a:endParaRPr>
          </a:p>
        </p:txBody>
      </p:sp>
      <p:sp>
        <p:nvSpPr>
          <p:cNvPr id="396" name="Google Shape;396;p10"/>
          <p:cNvSpPr/>
          <p:nvPr/>
        </p:nvSpPr>
        <p:spPr>
          <a:xfrm>
            <a:off x="4389120" y="1865376"/>
            <a:ext cx="2862072" cy="30175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700"/>
              <a:buFont typeface="Arial"/>
              <a:buNone/>
            </a:pPr>
            <a:r>
              <a:rPr b="0" i="0" lang="en-US" sz="1700" u="none" cap="none" strike="noStrike">
                <a:solidFill>
                  <a:srgbClr val="243646"/>
                </a:solidFill>
                <a:latin typeface="Arial"/>
                <a:ea typeface="Arial"/>
                <a:cs typeface="Arial"/>
                <a:sym typeface="Arial"/>
              </a:rPr>
              <a:t>External tmux</a:t>
            </a:r>
            <a:endParaRPr b="0" i="0" sz="1700" u="none" cap="none" strike="noStrike">
              <a:solidFill>
                <a:schemeClr val="dk1"/>
              </a:solidFill>
              <a:latin typeface="Arial"/>
              <a:ea typeface="Arial"/>
              <a:cs typeface="Arial"/>
              <a:sym typeface="Arial"/>
            </a:endParaRPr>
          </a:p>
        </p:txBody>
      </p:sp>
      <p:sp>
        <p:nvSpPr>
          <p:cNvPr id="397" name="Google Shape;397;p10"/>
          <p:cNvSpPr/>
          <p:nvPr/>
        </p:nvSpPr>
        <p:spPr>
          <a:xfrm>
            <a:off x="950976" y="2258568"/>
            <a:ext cx="99669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460"/>
              <a:buFont typeface="Arial"/>
              <a:buNone/>
            </a:pPr>
            <a:r>
              <a:rPr b="0" i="0" lang="en-US" sz="1460" u="none" cap="none" strike="noStrike">
                <a:solidFill>
                  <a:srgbClr val="267A94"/>
                </a:solidFill>
                <a:latin typeface="Arial"/>
                <a:ea typeface="Arial"/>
                <a:cs typeface="Arial"/>
                <a:sym typeface="Arial"/>
              </a:rPr>
              <a:t>Native panes + integration  |  larger codebase</a:t>
            </a:r>
            <a:endParaRPr b="0" i="0" sz="1460" u="none" cap="none" strike="noStrike">
              <a:solidFill>
                <a:schemeClr val="dk1"/>
              </a:solidFill>
              <a:latin typeface="Arial"/>
              <a:ea typeface="Arial"/>
              <a:cs typeface="Arial"/>
              <a:sym typeface="Arial"/>
            </a:endParaRPr>
          </a:p>
        </p:txBody>
      </p:sp>
      <p:sp>
        <p:nvSpPr>
          <p:cNvPr id="398" name="Google Shape;398;p10"/>
          <p:cNvSpPr/>
          <p:nvPr/>
        </p:nvSpPr>
        <p:spPr>
          <a:xfrm>
            <a:off x="749808" y="2916936"/>
            <a:ext cx="10744200" cy="923544"/>
          </a:xfrm>
          <a:prstGeom prst="roundRect">
            <a:avLst>
              <a:gd fmla="val 8911"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0"/>
          <p:cNvSpPr/>
          <p:nvPr/>
        </p:nvSpPr>
        <p:spPr>
          <a:xfrm>
            <a:off x="950976" y="3026664"/>
            <a:ext cx="281635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20"/>
              <a:buFont typeface="Arial"/>
              <a:buNone/>
            </a:pPr>
            <a:r>
              <a:rPr b="1" i="0" lang="en-US" sz="1820" u="none" cap="none" strike="noStrike">
                <a:solidFill>
                  <a:srgbClr val="1A2D42"/>
                </a:solidFill>
                <a:latin typeface="Arial"/>
                <a:ea typeface="Arial"/>
                <a:cs typeface="Arial"/>
                <a:sym typeface="Arial"/>
              </a:rPr>
              <a:t>Cross-platform abstractions</a:t>
            </a:r>
            <a:endParaRPr b="0" i="0" sz="1820" u="none" cap="none" strike="noStrike">
              <a:solidFill>
                <a:schemeClr val="dk1"/>
              </a:solidFill>
              <a:latin typeface="Arial"/>
              <a:ea typeface="Arial"/>
              <a:cs typeface="Arial"/>
              <a:sym typeface="Arial"/>
            </a:endParaRPr>
          </a:p>
        </p:txBody>
      </p:sp>
      <p:sp>
        <p:nvSpPr>
          <p:cNvPr id="400" name="Google Shape;400;p10"/>
          <p:cNvSpPr/>
          <p:nvPr/>
        </p:nvSpPr>
        <p:spPr>
          <a:xfrm>
            <a:off x="3813048" y="3054096"/>
            <a:ext cx="438912" cy="2834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E6D7C"/>
              </a:buClr>
              <a:buSzPts val="1500"/>
              <a:buFont typeface="Arial"/>
              <a:buNone/>
            </a:pPr>
            <a:r>
              <a:rPr b="0" i="0" lang="en-US" sz="1500" u="none" cap="none" strike="noStrike">
                <a:solidFill>
                  <a:srgbClr val="5E6D7C"/>
                </a:solidFill>
                <a:latin typeface="Arial"/>
                <a:ea typeface="Arial"/>
                <a:cs typeface="Arial"/>
                <a:sym typeface="Arial"/>
              </a:rPr>
              <a:t>vs.</a:t>
            </a:r>
            <a:endParaRPr b="0" i="0" sz="1500" u="none" cap="none" strike="noStrike">
              <a:solidFill>
                <a:schemeClr val="dk1"/>
              </a:solidFill>
              <a:latin typeface="Arial"/>
              <a:ea typeface="Arial"/>
              <a:cs typeface="Arial"/>
              <a:sym typeface="Arial"/>
            </a:endParaRPr>
          </a:p>
        </p:txBody>
      </p:sp>
      <p:sp>
        <p:nvSpPr>
          <p:cNvPr id="401" name="Google Shape;401;p10"/>
          <p:cNvSpPr/>
          <p:nvPr/>
        </p:nvSpPr>
        <p:spPr>
          <a:xfrm>
            <a:off x="4389120" y="3008376"/>
            <a:ext cx="2862072" cy="30175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700"/>
              <a:buFont typeface="Arial"/>
              <a:buNone/>
            </a:pPr>
            <a:r>
              <a:rPr b="0" i="0" lang="en-US" sz="1700" u="none" cap="none" strike="noStrike">
                <a:solidFill>
                  <a:srgbClr val="243646"/>
                </a:solidFill>
                <a:latin typeface="Arial"/>
                <a:ea typeface="Arial"/>
                <a:cs typeface="Arial"/>
                <a:sym typeface="Arial"/>
              </a:rPr>
              <a:t>Separate native apps</a:t>
            </a:r>
            <a:endParaRPr b="0" i="0" sz="1700" u="none" cap="none" strike="noStrike">
              <a:solidFill>
                <a:schemeClr val="dk1"/>
              </a:solidFill>
              <a:latin typeface="Arial"/>
              <a:ea typeface="Arial"/>
              <a:cs typeface="Arial"/>
              <a:sym typeface="Arial"/>
            </a:endParaRPr>
          </a:p>
        </p:txBody>
      </p:sp>
      <p:sp>
        <p:nvSpPr>
          <p:cNvPr id="402" name="Google Shape;402;p10"/>
          <p:cNvSpPr/>
          <p:nvPr/>
        </p:nvSpPr>
        <p:spPr>
          <a:xfrm>
            <a:off x="950976" y="3401568"/>
            <a:ext cx="99669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460"/>
              <a:buFont typeface="Arial"/>
              <a:buNone/>
            </a:pPr>
            <a:r>
              <a:rPr b="0" i="0" lang="en-US" sz="1460" u="none" cap="none" strike="noStrike">
                <a:solidFill>
                  <a:srgbClr val="267A94"/>
                </a:solidFill>
                <a:latin typeface="Arial"/>
                <a:ea typeface="Arial"/>
                <a:cs typeface="Arial"/>
                <a:sym typeface="Arial"/>
              </a:rPr>
              <a:t>Shared code  |  platform-specific complexity</a:t>
            </a:r>
            <a:endParaRPr b="0" i="0" sz="1460" u="none" cap="none" strike="noStrike">
              <a:solidFill>
                <a:schemeClr val="dk1"/>
              </a:solidFill>
              <a:latin typeface="Arial"/>
              <a:ea typeface="Arial"/>
              <a:cs typeface="Arial"/>
              <a:sym typeface="Arial"/>
            </a:endParaRPr>
          </a:p>
        </p:txBody>
      </p:sp>
      <p:sp>
        <p:nvSpPr>
          <p:cNvPr id="403" name="Google Shape;403;p10"/>
          <p:cNvSpPr/>
          <p:nvPr/>
        </p:nvSpPr>
        <p:spPr>
          <a:xfrm>
            <a:off x="749808" y="4059936"/>
            <a:ext cx="10744200" cy="923544"/>
          </a:xfrm>
          <a:prstGeom prst="roundRect">
            <a:avLst>
              <a:gd fmla="val 8911"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0"/>
          <p:cNvSpPr/>
          <p:nvPr/>
        </p:nvSpPr>
        <p:spPr>
          <a:xfrm>
            <a:off x="950976" y="4169664"/>
            <a:ext cx="281635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20"/>
              <a:buFont typeface="Arial"/>
              <a:buNone/>
            </a:pPr>
            <a:r>
              <a:rPr b="1" i="0" lang="en-US" sz="1820" u="none" cap="none" strike="noStrike">
                <a:solidFill>
                  <a:srgbClr val="1A2D42"/>
                </a:solidFill>
                <a:latin typeface="Arial"/>
                <a:ea typeface="Arial"/>
                <a:cs typeface="Arial"/>
                <a:sym typeface="Arial"/>
              </a:rPr>
              <a:t>Lua as configuration</a:t>
            </a:r>
            <a:endParaRPr b="0" i="0" sz="1820" u="none" cap="none" strike="noStrike">
              <a:solidFill>
                <a:schemeClr val="dk1"/>
              </a:solidFill>
              <a:latin typeface="Arial"/>
              <a:ea typeface="Arial"/>
              <a:cs typeface="Arial"/>
              <a:sym typeface="Arial"/>
            </a:endParaRPr>
          </a:p>
        </p:txBody>
      </p:sp>
      <p:sp>
        <p:nvSpPr>
          <p:cNvPr id="405" name="Google Shape;405;p10"/>
          <p:cNvSpPr/>
          <p:nvPr/>
        </p:nvSpPr>
        <p:spPr>
          <a:xfrm>
            <a:off x="3813048" y="4197096"/>
            <a:ext cx="438912" cy="2834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E6D7C"/>
              </a:buClr>
              <a:buSzPts val="1500"/>
              <a:buFont typeface="Arial"/>
              <a:buNone/>
            </a:pPr>
            <a:r>
              <a:rPr b="0" i="0" lang="en-US" sz="1500" u="none" cap="none" strike="noStrike">
                <a:solidFill>
                  <a:srgbClr val="5E6D7C"/>
                </a:solidFill>
                <a:latin typeface="Arial"/>
                <a:ea typeface="Arial"/>
                <a:cs typeface="Arial"/>
                <a:sym typeface="Arial"/>
              </a:rPr>
              <a:t>vs.</a:t>
            </a:r>
            <a:endParaRPr b="0" i="0" sz="1500" u="none" cap="none" strike="noStrike">
              <a:solidFill>
                <a:schemeClr val="dk1"/>
              </a:solidFill>
              <a:latin typeface="Arial"/>
              <a:ea typeface="Arial"/>
              <a:cs typeface="Arial"/>
              <a:sym typeface="Arial"/>
            </a:endParaRPr>
          </a:p>
        </p:txBody>
      </p:sp>
      <p:sp>
        <p:nvSpPr>
          <p:cNvPr id="406" name="Google Shape;406;p10"/>
          <p:cNvSpPr/>
          <p:nvPr/>
        </p:nvSpPr>
        <p:spPr>
          <a:xfrm>
            <a:off x="4389120" y="4151376"/>
            <a:ext cx="2862072" cy="30175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700"/>
              <a:buFont typeface="Arial"/>
              <a:buNone/>
            </a:pPr>
            <a:r>
              <a:rPr b="0" i="0" lang="en-US" sz="1700" u="none" cap="none" strike="noStrike">
                <a:solidFill>
                  <a:srgbClr val="243646"/>
                </a:solidFill>
                <a:latin typeface="Arial"/>
                <a:ea typeface="Arial"/>
                <a:cs typeface="Arial"/>
                <a:sym typeface="Arial"/>
              </a:rPr>
              <a:t>Fixed settings file</a:t>
            </a:r>
            <a:endParaRPr b="0" i="0" sz="1700" u="none" cap="none" strike="noStrike">
              <a:solidFill>
                <a:schemeClr val="dk1"/>
              </a:solidFill>
              <a:latin typeface="Arial"/>
              <a:ea typeface="Arial"/>
              <a:cs typeface="Arial"/>
              <a:sym typeface="Arial"/>
            </a:endParaRPr>
          </a:p>
        </p:txBody>
      </p:sp>
      <p:sp>
        <p:nvSpPr>
          <p:cNvPr id="407" name="Google Shape;407;p10"/>
          <p:cNvSpPr/>
          <p:nvPr/>
        </p:nvSpPr>
        <p:spPr>
          <a:xfrm>
            <a:off x="950976" y="4544568"/>
            <a:ext cx="99669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460"/>
              <a:buFont typeface="Arial"/>
              <a:buNone/>
            </a:pPr>
            <a:r>
              <a:rPr b="0" i="0" lang="en-US" sz="1460" u="none" cap="none" strike="noStrike">
                <a:solidFill>
                  <a:srgbClr val="267A94"/>
                </a:solidFill>
                <a:latin typeface="Arial"/>
                <a:ea typeface="Arial"/>
                <a:cs typeface="Arial"/>
                <a:sym typeface="Arial"/>
              </a:rPr>
              <a:t>Extensibility  |  compatibility obligations</a:t>
            </a:r>
            <a:endParaRPr b="0" i="0" sz="1460" u="none" cap="none" strike="noStrike">
              <a:solidFill>
                <a:schemeClr val="dk1"/>
              </a:solidFill>
              <a:latin typeface="Arial"/>
              <a:ea typeface="Arial"/>
              <a:cs typeface="Arial"/>
              <a:sym typeface="Arial"/>
            </a:endParaRPr>
          </a:p>
        </p:txBody>
      </p:sp>
      <p:sp>
        <p:nvSpPr>
          <p:cNvPr id="408" name="Google Shape;408;p10"/>
          <p:cNvSpPr/>
          <p:nvPr/>
        </p:nvSpPr>
        <p:spPr>
          <a:xfrm>
            <a:off x="749808" y="5404104"/>
            <a:ext cx="10744200" cy="585216"/>
          </a:xfrm>
          <a:prstGeom prst="roundRect">
            <a:avLst>
              <a:gd fmla="val 18750" name="adj"/>
            </a:avLst>
          </a:prstGeom>
          <a:solidFill>
            <a:srgbClr val="FBF1E8"/>
          </a:solidFill>
          <a:ln cap="flat" cmpd="sng" w="12700">
            <a:solidFill>
              <a:srgbClr val="FB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932688" y="5532120"/>
            <a:ext cx="1037844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550"/>
              <a:buFont typeface="Arial"/>
              <a:buNone/>
            </a:pPr>
            <a:r>
              <a:rPr b="0" i="0" lang="en-US" sz="1550" u="none" cap="none" strike="noStrike">
                <a:solidFill>
                  <a:srgbClr val="1A2D42"/>
                </a:solidFill>
                <a:latin typeface="Arial"/>
                <a:ea typeface="Arial"/>
                <a:cs typeface="Arial"/>
                <a:sym typeface="Arial"/>
              </a:rPr>
              <a:t>Limits: GPU drivers, a mostly single-maintainer codebase, and conceptual claims awaiting A2 validation.</a:t>
            </a:r>
            <a:endParaRPr b="0" i="0" sz="155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E"/>
        </a:solidFill>
      </p:bgPr>
    </p:bg>
    <p:spTree>
      <p:nvGrpSpPr>
        <p:cNvPr id="414" name="Shape 414"/>
        <p:cNvGrpSpPr/>
        <p:nvPr/>
      </p:nvGrpSpPr>
      <p:grpSpPr>
        <a:xfrm>
          <a:off x="0" y="0"/>
          <a:ext cx="0" cy="0"/>
          <a:chOff x="0" y="0"/>
          <a:chExt cx="0" cy="0"/>
        </a:xfrm>
      </p:grpSpPr>
      <p:sp>
        <p:nvSpPr>
          <p:cNvPr id="415" name="Google Shape;415;p11"/>
          <p:cNvSpPr/>
          <p:nvPr/>
        </p:nvSpPr>
        <p:spPr>
          <a:xfrm>
            <a:off x="0" y="0"/>
            <a:ext cx="12191695" cy="100584"/>
          </a:xfrm>
          <a:prstGeom prst="rect">
            <a:avLst/>
          </a:prstGeom>
          <a:solidFill>
            <a:srgbClr val="267A94"/>
          </a:solidFill>
          <a:ln cap="flat" cmpd="sng" w="12700">
            <a:solidFill>
              <a:srgbClr val="267A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585216" y="283464"/>
            <a:ext cx="10515600" cy="4754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800"/>
              <a:buFont typeface="Arial"/>
              <a:buNone/>
            </a:pPr>
            <a:r>
              <a:rPr b="1" i="0" lang="en-US" sz="2800" u="none" cap="none" strike="noStrike">
                <a:solidFill>
                  <a:srgbClr val="1A2D42"/>
                </a:solidFill>
                <a:latin typeface="Arial"/>
                <a:ea typeface="Arial"/>
                <a:cs typeface="Arial"/>
                <a:sym typeface="Arial"/>
              </a:rPr>
              <a:t>Lessons, AI collaboration &amp; conclusion</a:t>
            </a:r>
            <a:endParaRPr b="0" i="0" sz="2800" u="none" cap="none" strike="noStrike">
              <a:solidFill>
                <a:schemeClr val="dk1"/>
              </a:solidFill>
              <a:latin typeface="Arial"/>
              <a:ea typeface="Arial"/>
              <a:cs typeface="Arial"/>
              <a:sym typeface="Arial"/>
            </a:endParaRPr>
          </a:p>
        </p:txBody>
      </p:sp>
      <p:sp>
        <p:nvSpPr>
          <p:cNvPr id="417" name="Google Shape;417;p11"/>
          <p:cNvSpPr/>
          <p:nvPr/>
        </p:nvSpPr>
        <p:spPr>
          <a:xfrm>
            <a:off x="612648" y="777240"/>
            <a:ext cx="96926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300"/>
              <a:buFont typeface="Arial"/>
              <a:buNone/>
            </a:pPr>
            <a:r>
              <a:rPr b="0" i="0" lang="en-US" sz="1300" u="none" cap="none" strike="noStrike">
                <a:solidFill>
                  <a:srgbClr val="5E6D7C"/>
                </a:solidFill>
                <a:latin typeface="Arial"/>
                <a:ea typeface="Arial"/>
                <a:cs typeface="Arial"/>
                <a:sym typeface="Arial"/>
              </a:rPr>
              <a:t>What we learned</a:t>
            </a:r>
            <a:endParaRPr b="0" i="0" sz="1300" u="none" cap="none" strike="noStrike">
              <a:solidFill>
                <a:schemeClr val="dk1"/>
              </a:solidFill>
              <a:latin typeface="Arial"/>
              <a:ea typeface="Arial"/>
              <a:cs typeface="Arial"/>
              <a:sym typeface="Arial"/>
            </a:endParaRPr>
          </a:p>
        </p:txBody>
      </p:sp>
      <p:sp>
        <p:nvSpPr>
          <p:cNvPr id="418" name="Google Shape;418;p11"/>
          <p:cNvSpPr/>
          <p:nvPr/>
        </p:nvSpPr>
        <p:spPr>
          <a:xfrm>
            <a:off x="10332720" y="813816"/>
            <a:ext cx="1252728" cy="21031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67A94"/>
              </a:buClr>
              <a:buSzPts val="1050"/>
              <a:buFont typeface="Arial"/>
              <a:buNone/>
            </a:pPr>
            <a:r>
              <a:rPr b="1" i="0" lang="en-US" sz="1050" u="none" cap="none" strike="noStrike">
                <a:solidFill>
                  <a:srgbClr val="267A94"/>
                </a:solidFill>
                <a:latin typeface="Arial"/>
                <a:ea typeface="Arial"/>
                <a:cs typeface="Arial"/>
                <a:sym typeface="Arial"/>
              </a:rPr>
              <a:t>ERIC  ·  11/11</a:t>
            </a:r>
            <a:endParaRPr b="0" i="0" sz="1050" u="none" cap="none" strike="noStrike">
              <a:solidFill>
                <a:schemeClr val="dk1"/>
              </a:solidFill>
              <a:latin typeface="Arial"/>
              <a:ea typeface="Arial"/>
              <a:cs typeface="Arial"/>
              <a:sym typeface="Arial"/>
            </a:endParaRPr>
          </a:p>
        </p:txBody>
      </p:sp>
      <p:cxnSp>
        <p:nvCxnSpPr>
          <p:cNvPr id="419" name="Google Shape;419;p11"/>
          <p:cNvCxnSpPr/>
          <p:nvPr/>
        </p:nvCxnSpPr>
        <p:spPr>
          <a:xfrm>
            <a:off x="594360" y="6537960"/>
            <a:ext cx="10972800" cy="0"/>
          </a:xfrm>
          <a:prstGeom prst="straightConnector1">
            <a:avLst/>
          </a:prstGeom>
          <a:noFill/>
          <a:ln cap="flat" cmpd="sng" w="9525">
            <a:solidFill>
              <a:srgbClr val="C8D5DD"/>
            </a:solidFill>
            <a:prstDash val="solid"/>
            <a:round/>
            <a:headEnd len="sm" w="sm" type="none"/>
            <a:tailEnd len="sm" w="sm" type="none"/>
          </a:ln>
        </p:spPr>
      </p:cxnSp>
      <p:sp>
        <p:nvSpPr>
          <p:cNvPr id="420" name="Google Shape;420;p11"/>
          <p:cNvSpPr/>
          <p:nvPr/>
        </p:nvSpPr>
        <p:spPr>
          <a:xfrm>
            <a:off x="603504" y="6565392"/>
            <a:ext cx="365760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WezTerm Warriors  |  CISC 322 A1</a:t>
            </a:r>
            <a:endParaRPr b="0" i="0" sz="900" u="none" cap="none" strike="noStrike">
              <a:solidFill>
                <a:schemeClr val="dk1"/>
              </a:solidFill>
              <a:latin typeface="Arial"/>
              <a:ea typeface="Arial"/>
              <a:cs typeface="Arial"/>
              <a:sym typeface="Arial"/>
            </a:endParaRPr>
          </a:p>
        </p:txBody>
      </p:sp>
      <p:sp>
        <p:nvSpPr>
          <p:cNvPr id="421" name="Google Shape;421;p11"/>
          <p:cNvSpPr/>
          <p:nvPr/>
        </p:nvSpPr>
        <p:spPr>
          <a:xfrm>
            <a:off x="7863840" y="6556248"/>
            <a:ext cx="3703320" cy="17373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5E6D7C"/>
              </a:buClr>
              <a:buSzPts val="900"/>
              <a:buFont typeface="Arial"/>
              <a:buNone/>
            </a:pPr>
            <a:r>
              <a:rPr b="0" i="0" lang="en-US" sz="900" u="none" cap="none" strike="noStrike">
                <a:solidFill>
                  <a:srgbClr val="5E6D7C"/>
                </a:solidFill>
                <a:latin typeface="Arial"/>
                <a:ea typeface="Arial"/>
                <a:cs typeface="Arial"/>
                <a:sym typeface="Arial"/>
              </a:rPr>
              <a:t>A1: §§8–9 and Appendix D</a:t>
            </a:r>
            <a:endParaRPr b="0" i="0" sz="900" u="none" cap="none" strike="noStrike">
              <a:solidFill>
                <a:schemeClr val="dk1"/>
              </a:solidFill>
              <a:latin typeface="Arial"/>
              <a:ea typeface="Arial"/>
              <a:cs typeface="Arial"/>
              <a:sym typeface="Arial"/>
            </a:endParaRPr>
          </a:p>
        </p:txBody>
      </p:sp>
      <p:sp>
        <p:nvSpPr>
          <p:cNvPr id="422" name="Google Shape;422;p11"/>
          <p:cNvSpPr/>
          <p:nvPr/>
        </p:nvSpPr>
        <p:spPr>
          <a:xfrm>
            <a:off x="694944" y="1389888"/>
            <a:ext cx="5513832" cy="3611880"/>
          </a:xfrm>
          <a:prstGeom prst="roundRect">
            <a:avLst>
              <a:gd fmla="val 3038"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1"/>
          <p:cNvSpPr/>
          <p:nvPr/>
        </p:nvSpPr>
        <p:spPr>
          <a:xfrm>
            <a:off x="868680" y="1554480"/>
            <a:ext cx="5166360"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2200"/>
              <a:buFont typeface="Arial"/>
              <a:buNone/>
            </a:pPr>
            <a:r>
              <a:rPr b="1" i="0" lang="en-US" sz="2200" u="none" cap="none" strike="noStrike">
                <a:solidFill>
                  <a:srgbClr val="1A2D42"/>
                </a:solidFill>
                <a:latin typeface="Arial"/>
                <a:ea typeface="Arial"/>
                <a:cs typeface="Arial"/>
                <a:sym typeface="Arial"/>
              </a:rPr>
              <a:t>Lessons learned</a:t>
            </a:r>
            <a:endParaRPr b="0" i="0" sz="2200" u="none" cap="none" strike="noStrike">
              <a:solidFill>
                <a:schemeClr val="dk1"/>
              </a:solidFill>
              <a:latin typeface="Arial"/>
              <a:ea typeface="Arial"/>
              <a:cs typeface="Arial"/>
              <a:sym typeface="Arial"/>
            </a:endParaRPr>
          </a:p>
        </p:txBody>
      </p:sp>
      <p:sp>
        <p:nvSpPr>
          <p:cNvPr id="424" name="Google Shape;424;p11"/>
          <p:cNvSpPr/>
          <p:nvPr/>
        </p:nvSpPr>
        <p:spPr>
          <a:xfrm>
            <a:off x="932688" y="2112264"/>
            <a:ext cx="292608" cy="292608"/>
          </a:xfrm>
          <a:prstGeom prst="roundRect">
            <a:avLst>
              <a:gd fmla="val 18750"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950976" y="2130552"/>
            <a:ext cx="256032"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300"/>
              <a:buFont typeface="Arial"/>
              <a:buNone/>
            </a:pPr>
            <a:r>
              <a:rPr b="1" i="0" lang="en-US" sz="1300" u="none" cap="none" strike="noStrike">
                <a:solidFill>
                  <a:srgbClr val="267A94"/>
                </a:solidFill>
                <a:latin typeface="Arial"/>
                <a:ea typeface="Arial"/>
                <a:cs typeface="Arial"/>
                <a:sym typeface="Arial"/>
              </a:rPr>
              <a:t>1</a:t>
            </a:r>
            <a:endParaRPr b="0" i="0" sz="1300" u="none" cap="none" strike="noStrike">
              <a:solidFill>
                <a:schemeClr val="dk1"/>
              </a:solidFill>
              <a:latin typeface="Arial"/>
              <a:ea typeface="Arial"/>
              <a:cs typeface="Arial"/>
              <a:sym typeface="Arial"/>
            </a:endParaRPr>
          </a:p>
        </p:txBody>
      </p:sp>
      <p:sp>
        <p:nvSpPr>
          <p:cNvPr id="426" name="Google Shape;426;p11"/>
          <p:cNvSpPr/>
          <p:nvPr/>
        </p:nvSpPr>
        <p:spPr>
          <a:xfrm>
            <a:off x="1353312" y="2048256"/>
            <a:ext cx="4517136" cy="5394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600"/>
              <a:buFont typeface="Arial"/>
              <a:buNone/>
            </a:pPr>
            <a:r>
              <a:rPr b="0" i="0" lang="en-US" sz="1600" u="none" cap="none" strike="noStrike">
                <a:solidFill>
                  <a:srgbClr val="243646"/>
                </a:solidFill>
                <a:latin typeface="Arial"/>
                <a:ea typeface="Arial"/>
                <a:cs typeface="Arial"/>
                <a:sym typeface="Arial"/>
              </a:rPr>
              <a:t>Agree on shared subsystem names and crate mapping early.</a:t>
            </a:r>
            <a:endParaRPr b="0" i="0" sz="1600" u="none" cap="none" strike="noStrike">
              <a:solidFill>
                <a:schemeClr val="dk1"/>
              </a:solidFill>
              <a:latin typeface="Arial"/>
              <a:ea typeface="Arial"/>
              <a:cs typeface="Arial"/>
              <a:sym typeface="Arial"/>
            </a:endParaRPr>
          </a:p>
        </p:txBody>
      </p:sp>
      <p:sp>
        <p:nvSpPr>
          <p:cNvPr id="427" name="Google Shape;427;p11"/>
          <p:cNvSpPr/>
          <p:nvPr/>
        </p:nvSpPr>
        <p:spPr>
          <a:xfrm>
            <a:off x="932688" y="2898648"/>
            <a:ext cx="292608" cy="292608"/>
          </a:xfrm>
          <a:prstGeom prst="roundRect">
            <a:avLst>
              <a:gd fmla="val 18750"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1"/>
          <p:cNvSpPr/>
          <p:nvPr/>
        </p:nvSpPr>
        <p:spPr>
          <a:xfrm>
            <a:off x="950976" y="2916936"/>
            <a:ext cx="256032"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300"/>
              <a:buFont typeface="Arial"/>
              <a:buNone/>
            </a:pPr>
            <a:r>
              <a:rPr b="1" i="0" lang="en-US" sz="1300" u="none" cap="none" strike="noStrike">
                <a:solidFill>
                  <a:srgbClr val="267A94"/>
                </a:solidFill>
                <a:latin typeface="Arial"/>
                <a:ea typeface="Arial"/>
                <a:cs typeface="Arial"/>
                <a:sym typeface="Arial"/>
              </a:rPr>
              <a:t>2</a:t>
            </a:r>
            <a:endParaRPr b="0" i="0" sz="1300" u="none" cap="none" strike="noStrike">
              <a:solidFill>
                <a:schemeClr val="dk1"/>
              </a:solidFill>
              <a:latin typeface="Arial"/>
              <a:ea typeface="Arial"/>
              <a:cs typeface="Arial"/>
              <a:sym typeface="Arial"/>
            </a:endParaRPr>
          </a:p>
        </p:txBody>
      </p:sp>
      <p:sp>
        <p:nvSpPr>
          <p:cNvPr id="429" name="Google Shape;429;p11"/>
          <p:cNvSpPr/>
          <p:nvPr/>
        </p:nvSpPr>
        <p:spPr>
          <a:xfrm>
            <a:off x="1353312" y="2834640"/>
            <a:ext cx="4517136" cy="5394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600"/>
              <a:buFont typeface="Arial"/>
              <a:buNone/>
            </a:pPr>
            <a:r>
              <a:rPr b="0" i="0" lang="en-US" sz="1600" u="none" cap="none" strike="noStrike">
                <a:solidFill>
                  <a:srgbClr val="243646"/>
                </a:solidFill>
                <a:latin typeface="Arial"/>
                <a:ea typeface="Arial"/>
                <a:cs typeface="Arial"/>
                <a:sym typeface="Arial"/>
              </a:rPr>
              <a:t>Use code-level diagrams to learn, not as the A1 conceptual picture.</a:t>
            </a:r>
            <a:endParaRPr b="0" i="0" sz="1600" u="none" cap="none" strike="noStrike">
              <a:solidFill>
                <a:schemeClr val="dk1"/>
              </a:solidFill>
              <a:latin typeface="Arial"/>
              <a:ea typeface="Arial"/>
              <a:cs typeface="Arial"/>
              <a:sym typeface="Arial"/>
            </a:endParaRPr>
          </a:p>
        </p:txBody>
      </p:sp>
      <p:sp>
        <p:nvSpPr>
          <p:cNvPr id="430" name="Google Shape;430;p11"/>
          <p:cNvSpPr/>
          <p:nvPr/>
        </p:nvSpPr>
        <p:spPr>
          <a:xfrm>
            <a:off x="932688" y="3685032"/>
            <a:ext cx="292608" cy="292608"/>
          </a:xfrm>
          <a:prstGeom prst="roundRect">
            <a:avLst>
              <a:gd fmla="val 18750"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1"/>
          <p:cNvSpPr/>
          <p:nvPr/>
        </p:nvSpPr>
        <p:spPr>
          <a:xfrm>
            <a:off x="950976" y="3703320"/>
            <a:ext cx="256032"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67A94"/>
              </a:buClr>
              <a:buSzPts val="1300"/>
              <a:buFont typeface="Arial"/>
              <a:buNone/>
            </a:pPr>
            <a:r>
              <a:rPr b="1" i="0" lang="en-US" sz="1300" u="none" cap="none" strike="noStrike">
                <a:solidFill>
                  <a:srgbClr val="267A94"/>
                </a:solidFill>
                <a:latin typeface="Arial"/>
                <a:ea typeface="Arial"/>
                <a:cs typeface="Arial"/>
                <a:sym typeface="Arial"/>
              </a:rPr>
              <a:t>3</a:t>
            </a:r>
            <a:endParaRPr b="0" i="0" sz="1300" u="none" cap="none" strike="noStrike">
              <a:solidFill>
                <a:schemeClr val="dk1"/>
              </a:solidFill>
              <a:latin typeface="Arial"/>
              <a:ea typeface="Arial"/>
              <a:cs typeface="Arial"/>
              <a:sym typeface="Arial"/>
            </a:endParaRPr>
          </a:p>
        </p:txBody>
      </p:sp>
      <p:sp>
        <p:nvSpPr>
          <p:cNvPr id="432" name="Google Shape;432;p11"/>
          <p:cNvSpPr/>
          <p:nvPr/>
        </p:nvSpPr>
        <p:spPr>
          <a:xfrm>
            <a:off x="1353312" y="3621024"/>
            <a:ext cx="4517136" cy="5394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600"/>
              <a:buFont typeface="Arial"/>
              <a:buNone/>
            </a:pPr>
            <a:r>
              <a:rPr b="0" i="0" lang="en-US" sz="1600" u="none" cap="none" strike="noStrike">
                <a:solidFill>
                  <a:srgbClr val="243646"/>
                </a:solidFill>
                <a:latin typeface="Arial"/>
                <a:ea typeface="Arial"/>
                <a:cs typeface="Arial"/>
                <a:sym typeface="Arial"/>
              </a:rPr>
              <a:t>Set page budgets before merging everyone’s sections.</a:t>
            </a:r>
            <a:endParaRPr b="0" i="0" sz="1600" u="none" cap="none" strike="noStrike">
              <a:solidFill>
                <a:schemeClr val="dk1"/>
              </a:solidFill>
              <a:latin typeface="Arial"/>
              <a:ea typeface="Arial"/>
              <a:cs typeface="Arial"/>
              <a:sym typeface="Arial"/>
            </a:endParaRPr>
          </a:p>
        </p:txBody>
      </p:sp>
      <p:sp>
        <p:nvSpPr>
          <p:cNvPr id="433" name="Google Shape;433;p11"/>
          <p:cNvSpPr/>
          <p:nvPr/>
        </p:nvSpPr>
        <p:spPr>
          <a:xfrm>
            <a:off x="6428232" y="1389888"/>
            <a:ext cx="5020056" cy="3611880"/>
          </a:xfrm>
          <a:prstGeom prst="roundRect">
            <a:avLst>
              <a:gd fmla="val 3038" name="adj"/>
            </a:avLst>
          </a:prstGeom>
          <a:solidFill>
            <a:srgbClr val="FFFFFF"/>
          </a:solidFill>
          <a:ln cap="flat" cmpd="sng" w="12700">
            <a:solidFill>
              <a:srgbClr val="C8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6601968" y="1554480"/>
            <a:ext cx="4672584"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970"/>
              <a:buFont typeface="Arial"/>
              <a:buNone/>
            </a:pPr>
            <a:r>
              <a:rPr b="1" i="0" lang="en-US" sz="1970" u="none" cap="none" strike="noStrike">
                <a:solidFill>
                  <a:srgbClr val="1A2D42"/>
                </a:solidFill>
                <a:latin typeface="Arial"/>
                <a:ea typeface="Arial"/>
                <a:cs typeface="Arial"/>
                <a:sym typeface="Arial"/>
              </a:rPr>
              <a:t>AI teammate: used, then verified</a:t>
            </a:r>
            <a:endParaRPr b="0" i="0" sz="1970" u="none" cap="none" strike="noStrike">
              <a:solidFill>
                <a:schemeClr val="dk1"/>
              </a:solidFill>
              <a:latin typeface="Arial"/>
              <a:ea typeface="Arial"/>
              <a:cs typeface="Arial"/>
              <a:sym typeface="Arial"/>
            </a:endParaRPr>
          </a:p>
        </p:txBody>
      </p:sp>
      <p:sp>
        <p:nvSpPr>
          <p:cNvPr id="435" name="Google Shape;435;p11"/>
          <p:cNvSpPr/>
          <p:nvPr/>
        </p:nvSpPr>
        <p:spPr>
          <a:xfrm>
            <a:off x="6675120" y="2130552"/>
            <a:ext cx="4562856" cy="3931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67A94"/>
              </a:buClr>
              <a:buSzPts val="1740"/>
              <a:buFont typeface="Arial"/>
              <a:buNone/>
            </a:pPr>
            <a:r>
              <a:rPr b="1" i="0" lang="en-US" sz="1740" u="none" cap="none" strike="noStrike">
                <a:solidFill>
                  <a:srgbClr val="267A94"/>
                </a:solidFill>
                <a:latin typeface="Arial"/>
                <a:ea typeface="Arial"/>
                <a:cs typeface="Arial"/>
                <a:sym typeface="Arial"/>
              </a:rPr>
              <a:t>Claude Opus 5.5 · Sonnet 5.5 · GPT-6</a:t>
            </a:r>
            <a:endParaRPr b="0" i="0" sz="1740" u="none" cap="none" strike="noStrike">
              <a:solidFill>
                <a:schemeClr val="dk1"/>
              </a:solidFill>
              <a:latin typeface="Arial"/>
              <a:ea typeface="Arial"/>
              <a:cs typeface="Arial"/>
              <a:sym typeface="Arial"/>
            </a:endParaRPr>
          </a:p>
        </p:txBody>
      </p:sp>
      <p:sp>
        <p:nvSpPr>
          <p:cNvPr id="436" name="Google Shape;436;p11"/>
          <p:cNvSpPr/>
          <p:nvPr/>
        </p:nvSpPr>
        <p:spPr>
          <a:xfrm>
            <a:off x="6684264" y="2660904"/>
            <a:ext cx="45262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3646"/>
              </a:buClr>
              <a:buSzPts val="1550"/>
              <a:buFont typeface="Arial"/>
              <a:buNone/>
            </a:pPr>
            <a:r>
              <a:rPr b="0" i="0" lang="en-US" sz="1550" u="none" cap="none" strike="noStrike">
                <a:solidFill>
                  <a:srgbClr val="243646"/>
                </a:solidFill>
                <a:latin typeface="Arial"/>
                <a:ea typeface="Arial"/>
                <a:cs typeface="Arial"/>
                <a:sym typeface="Arial"/>
              </a:rPr>
              <a:t>Research guidance, drafts, diagrams, and integration</a:t>
            </a:r>
            <a:endParaRPr b="0" i="0" sz="1550" u="none" cap="none" strike="noStrike">
              <a:solidFill>
                <a:schemeClr val="dk1"/>
              </a:solidFill>
              <a:latin typeface="Arial"/>
              <a:ea typeface="Arial"/>
              <a:cs typeface="Arial"/>
              <a:sym typeface="Arial"/>
            </a:endParaRPr>
          </a:p>
        </p:txBody>
      </p:sp>
      <p:sp>
        <p:nvSpPr>
          <p:cNvPr id="437" name="Google Shape;437;p11"/>
          <p:cNvSpPr/>
          <p:nvPr/>
        </p:nvSpPr>
        <p:spPr>
          <a:xfrm>
            <a:off x="6693408" y="3374136"/>
            <a:ext cx="4471416" cy="5852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A2D42"/>
              </a:buClr>
              <a:buSzPts val="1810"/>
              <a:buFont typeface="Arial"/>
              <a:buNone/>
            </a:pPr>
            <a:r>
              <a:rPr b="1" i="0" lang="en-US" sz="1810" u="none" cap="none" strike="noStrike">
                <a:solidFill>
                  <a:srgbClr val="1A2D42"/>
                </a:solidFill>
                <a:latin typeface="Arial"/>
                <a:ea typeface="Arial"/>
                <a:cs typeface="Arial"/>
                <a:sym typeface="Arial"/>
              </a:rPr>
              <a:t>~40% of the production process aided by AI</a:t>
            </a:r>
            <a:endParaRPr b="0" i="0" sz="1810" u="none" cap="none" strike="noStrike">
              <a:solidFill>
                <a:schemeClr val="dk1"/>
              </a:solidFill>
              <a:latin typeface="Arial"/>
              <a:ea typeface="Arial"/>
              <a:cs typeface="Arial"/>
              <a:sym typeface="Arial"/>
            </a:endParaRPr>
          </a:p>
        </p:txBody>
      </p:sp>
      <p:sp>
        <p:nvSpPr>
          <p:cNvPr id="438" name="Google Shape;438;p11"/>
          <p:cNvSpPr/>
          <p:nvPr/>
        </p:nvSpPr>
        <p:spPr>
          <a:xfrm>
            <a:off x="6693408" y="4215384"/>
            <a:ext cx="452628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E6D7C"/>
              </a:buClr>
              <a:buSzPts val="1470"/>
              <a:buFont typeface="Arial"/>
              <a:buNone/>
            </a:pPr>
            <a:r>
              <a:rPr b="0" i="0" lang="en-US" sz="1470" u="none" cap="none" strike="noStrike">
                <a:solidFill>
                  <a:srgbClr val="5E6D7C"/>
                </a:solidFill>
                <a:latin typeface="Arial"/>
                <a:ea typeface="Arial"/>
                <a:cs typeface="Arial"/>
                <a:sym typeface="Arial"/>
              </a:rPr>
              <a:t>Primary sources + human review remained essential.</a:t>
            </a:r>
            <a:endParaRPr b="0" i="0" sz="1470" u="none" cap="none" strike="noStrike">
              <a:solidFill>
                <a:schemeClr val="dk1"/>
              </a:solidFill>
              <a:latin typeface="Arial"/>
              <a:ea typeface="Arial"/>
              <a:cs typeface="Arial"/>
              <a:sym typeface="Arial"/>
            </a:endParaRPr>
          </a:p>
        </p:txBody>
      </p:sp>
      <p:sp>
        <p:nvSpPr>
          <p:cNvPr id="439" name="Google Shape;439;p11"/>
          <p:cNvSpPr/>
          <p:nvPr/>
        </p:nvSpPr>
        <p:spPr>
          <a:xfrm>
            <a:off x="749808" y="5257800"/>
            <a:ext cx="10680192" cy="722376"/>
          </a:xfrm>
          <a:prstGeom prst="roundRect">
            <a:avLst>
              <a:gd fmla="val 12658" name="adj"/>
            </a:avLst>
          </a:prstGeom>
          <a:solidFill>
            <a:srgbClr val="DDEFF2"/>
          </a:solidFill>
          <a:ln cap="flat" cmpd="sng" w="12700">
            <a:solidFill>
              <a:srgbClr val="DD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960120" y="5376672"/>
            <a:ext cx="10241280" cy="4480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A2D42"/>
              </a:buClr>
              <a:buSzPts val="1829"/>
              <a:buFont typeface="Arial"/>
              <a:buNone/>
            </a:pPr>
            <a:r>
              <a:rPr b="1" i="0" lang="en-US" sz="1830" u="none" cap="none" strike="noStrike">
                <a:solidFill>
                  <a:srgbClr val="1A2D42"/>
                </a:solidFill>
                <a:latin typeface="Arial"/>
                <a:ea typeface="Arial"/>
                <a:cs typeface="Arial"/>
                <a:sym typeface="Arial"/>
              </a:rPr>
              <a:t>Conclusion: responsiveness, portability and extensibility — with explicit complexity and maintenance costs.</a:t>
            </a:r>
            <a:endParaRPr b="0" i="0" sz="183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2026-10-11T01:16:03Z</dcterms:created>
  <dc:creator>WezTerm Warriors</dc:creator>
</cp:coreProperties>
</file>